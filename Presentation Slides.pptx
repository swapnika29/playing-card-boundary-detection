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1"/>
  </p:sldMasterIdLst>
  <p:sldIdLst>
    <p:sldId id="256" r:id="rId2"/>
    <p:sldId id="257" r:id="rId3"/>
    <p:sldId id="258"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3DFF1-5F25-90A2-350B-F60F245177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337644-ABCD-FBBD-01BD-46D7F34F4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82335D1-DD49-51AC-7E8E-AD6EAE046250}"/>
              </a:ext>
            </a:extLst>
          </p:cNvPr>
          <p:cNvSpPr>
            <a:spLocks noGrp="1"/>
          </p:cNvSpPr>
          <p:nvPr>
            <p:ph type="dt" sz="half" idx="10"/>
          </p:nvPr>
        </p:nvSpPr>
        <p:spPr/>
        <p:txBody>
          <a:bodyPr/>
          <a:lstStyle/>
          <a:p>
            <a:fld id="{796493D9-7F5C-47F5-8E98-1C60EF4F71CC}" type="datetimeFigureOut">
              <a:rPr lang="en-IN" smtClean="0"/>
              <a:t>30-03-2026</a:t>
            </a:fld>
            <a:endParaRPr lang="en-IN"/>
          </a:p>
        </p:txBody>
      </p:sp>
      <p:sp>
        <p:nvSpPr>
          <p:cNvPr id="5" name="Footer Placeholder 4">
            <a:extLst>
              <a:ext uri="{FF2B5EF4-FFF2-40B4-BE49-F238E27FC236}">
                <a16:creationId xmlns:a16="http://schemas.microsoft.com/office/drawing/2014/main" id="{8E6E03E2-8914-9EB8-B1BD-57058A5D16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3B7291-8ECA-C3E5-58E6-C5803D9A43C5}"/>
              </a:ext>
            </a:extLst>
          </p:cNvPr>
          <p:cNvSpPr>
            <a:spLocks noGrp="1"/>
          </p:cNvSpPr>
          <p:nvPr>
            <p:ph type="sldNum" sz="quarter" idx="12"/>
          </p:nvPr>
        </p:nvSpPr>
        <p:spPr/>
        <p:txBody>
          <a:bodyPr/>
          <a:lstStyle/>
          <a:p>
            <a:fld id="{582D6C33-9D63-45B4-A231-10259337FDAC}" type="slidenum">
              <a:rPr lang="en-IN" smtClean="0"/>
              <a:t>‹#›</a:t>
            </a:fld>
            <a:endParaRPr lang="en-IN"/>
          </a:p>
        </p:txBody>
      </p:sp>
    </p:spTree>
    <p:extLst>
      <p:ext uri="{BB962C8B-B14F-4D97-AF65-F5344CB8AC3E}">
        <p14:creationId xmlns:p14="http://schemas.microsoft.com/office/powerpoint/2010/main" val="3272437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A85DE-6481-9938-D70E-95F0135D59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17F78B-E7B7-6AD0-064D-C325693BC2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A900B3-9250-37DD-3460-AECDE459C1C3}"/>
              </a:ext>
            </a:extLst>
          </p:cNvPr>
          <p:cNvSpPr>
            <a:spLocks noGrp="1"/>
          </p:cNvSpPr>
          <p:nvPr>
            <p:ph type="dt" sz="half" idx="10"/>
          </p:nvPr>
        </p:nvSpPr>
        <p:spPr/>
        <p:txBody>
          <a:bodyPr/>
          <a:lstStyle/>
          <a:p>
            <a:fld id="{796493D9-7F5C-47F5-8E98-1C60EF4F71CC}" type="datetimeFigureOut">
              <a:rPr lang="en-IN" smtClean="0"/>
              <a:t>30-03-2026</a:t>
            </a:fld>
            <a:endParaRPr lang="en-IN"/>
          </a:p>
        </p:txBody>
      </p:sp>
      <p:sp>
        <p:nvSpPr>
          <p:cNvPr id="5" name="Footer Placeholder 4">
            <a:extLst>
              <a:ext uri="{FF2B5EF4-FFF2-40B4-BE49-F238E27FC236}">
                <a16:creationId xmlns:a16="http://schemas.microsoft.com/office/drawing/2014/main" id="{3E16A096-4741-A55D-2951-DA6730D1A8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57DA69-28FC-E5FC-5F47-5A6E1B4F759D}"/>
              </a:ext>
            </a:extLst>
          </p:cNvPr>
          <p:cNvSpPr>
            <a:spLocks noGrp="1"/>
          </p:cNvSpPr>
          <p:nvPr>
            <p:ph type="sldNum" sz="quarter" idx="12"/>
          </p:nvPr>
        </p:nvSpPr>
        <p:spPr/>
        <p:txBody>
          <a:bodyPr/>
          <a:lstStyle/>
          <a:p>
            <a:fld id="{582D6C33-9D63-45B4-A231-10259337FDAC}" type="slidenum">
              <a:rPr lang="en-IN" smtClean="0"/>
              <a:t>‹#›</a:t>
            </a:fld>
            <a:endParaRPr lang="en-IN"/>
          </a:p>
        </p:txBody>
      </p:sp>
    </p:spTree>
    <p:extLst>
      <p:ext uri="{BB962C8B-B14F-4D97-AF65-F5344CB8AC3E}">
        <p14:creationId xmlns:p14="http://schemas.microsoft.com/office/powerpoint/2010/main" val="3665199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7CEA1-0FE8-5C84-B426-DF71A53C87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7DAFA12-9BAB-A23B-F22D-86B6421D10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475853-4361-16F9-E0EB-8A626F2BA4BA}"/>
              </a:ext>
            </a:extLst>
          </p:cNvPr>
          <p:cNvSpPr>
            <a:spLocks noGrp="1"/>
          </p:cNvSpPr>
          <p:nvPr>
            <p:ph type="dt" sz="half" idx="10"/>
          </p:nvPr>
        </p:nvSpPr>
        <p:spPr/>
        <p:txBody>
          <a:bodyPr/>
          <a:lstStyle/>
          <a:p>
            <a:fld id="{796493D9-7F5C-47F5-8E98-1C60EF4F71CC}" type="datetimeFigureOut">
              <a:rPr lang="en-IN" smtClean="0"/>
              <a:t>30-03-2026</a:t>
            </a:fld>
            <a:endParaRPr lang="en-IN"/>
          </a:p>
        </p:txBody>
      </p:sp>
      <p:sp>
        <p:nvSpPr>
          <p:cNvPr id="5" name="Footer Placeholder 4">
            <a:extLst>
              <a:ext uri="{FF2B5EF4-FFF2-40B4-BE49-F238E27FC236}">
                <a16:creationId xmlns:a16="http://schemas.microsoft.com/office/drawing/2014/main" id="{4F9A76D6-A61A-02B0-456B-FCB7132451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2E8743-8B31-52F2-1154-C2573BEEC4F1}"/>
              </a:ext>
            </a:extLst>
          </p:cNvPr>
          <p:cNvSpPr>
            <a:spLocks noGrp="1"/>
          </p:cNvSpPr>
          <p:nvPr>
            <p:ph type="sldNum" sz="quarter" idx="12"/>
          </p:nvPr>
        </p:nvSpPr>
        <p:spPr/>
        <p:txBody>
          <a:bodyPr/>
          <a:lstStyle/>
          <a:p>
            <a:fld id="{582D6C33-9D63-45B4-A231-10259337FDAC}" type="slidenum">
              <a:rPr lang="en-IN" smtClean="0"/>
              <a:t>‹#›</a:t>
            </a:fld>
            <a:endParaRPr lang="en-IN"/>
          </a:p>
        </p:txBody>
      </p:sp>
    </p:spTree>
    <p:extLst>
      <p:ext uri="{BB962C8B-B14F-4D97-AF65-F5344CB8AC3E}">
        <p14:creationId xmlns:p14="http://schemas.microsoft.com/office/powerpoint/2010/main" val="1413085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3E675-77E9-8EA8-3945-241BF35795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1FDF22-C883-7697-69E7-C9A3E70840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95FB27-E08B-DE81-6F89-1F9DB2D220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702C25-F690-DA60-7AD3-B4533665E283}"/>
              </a:ext>
            </a:extLst>
          </p:cNvPr>
          <p:cNvSpPr>
            <a:spLocks noGrp="1"/>
          </p:cNvSpPr>
          <p:nvPr>
            <p:ph type="dt" sz="half" idx="10"/>
          </p:nvPr>
        </p:nvSpPr>
        <p:spPr/>
        <p:txBody>
          <a:bodyPr/>
          <a:lstStyle/>
          <a:p>
            <a:fld id="{796493D9-7F5C-47F5-8E98-1C60EF4F71CC}" type="datetimeFigureOut">
              <a:rPr lang="en-IN" smtClean="0"/>
              <a:t>30-03-2026</a:t>
            </a:fld>
            <a:endParaRPr lang="en-IN"/>
          </a:p>
        </p:txBody>
      </p:sp>
      <p:sp>
        <p:nvSpPr>
          <p:cNvPr id="6" name="Footer Placeholder 5">
            <a:extLst>
              <a:ext uri="{FF2B5EF4-FFF2-40B4-BE49-F238E27FC236}">
                <a16:creationId xmlns:a16="http://schemas.microsoft.com/office/drawing/2014/main" id="{27B5EAE5-4AB5-80D6-6FE3-EA1B247E5F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BE80B1-548D-CB02-39A9-934EA9C02DF1}"/>
              </a:ext>
            </a:extLst>
          </p:cNvPr>
          <p:cNvSpPr>
            <a:spLocks noGrp="1"/>
          </p:cNvSpPr>
          <p:nvPr>
            <p:ph type="sldNum" sz="quarter" idx="12"/>
          </p:nvPr>
        </p:nvSpPr>
        <p:spPr/>
        <p:txBody>
          <a:bodyPr/>
          <a:lstStyle/>
          <a:p>
            <a:fld id="{582D6C33-9D63-45B4-A231-10259337FDAC}" type="slidenum">
              <a:rPr lang="en-IN" smtClean="0"/>
              <a:t>‹#›</a:t>
            </a:fld>
            <a:endParaRPr lang="en-IN"/>
          </a:p>
        </p:txBody>
      </p:sp>
    </p:spTree>
    <p:extLst>
      <p:ext uri="{BB962C8B-B14F-4D97-AF65-F5344CB8AC3E}">
        <p14:creationId xmlns:p14="http://schemas.microsoft.com/office/powerpoint/2010/main" val="718492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81886-026F-8CD6-781B-7FD5465F71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92CB26-5115-AF80-966C-5B537DD6CA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7D1FDF-C774-1079-E08F-918CCE97CF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0ECF25-8D30-AD71-6C56-3B6ABE7688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2B441C-3C23-F982-E664-E007A64C84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5978F6-C7EB-FFAC-E682-5A0BF00BCF40}"/>
              </a:ext>
            </a:extLst>
          </p:cNvPr>
          <p:cNvSpPr>
            <a:spLocks noGrp="1"/>
          </p:cNvSpPr>
          <p:nvPr>
            <p:ph type="dt" sz="half" idx="10"/>
          </p:nvPr>
        </p:nvSpPr>
        <p:spPr/>
        <p:txBody>
          <a:bodyPr/>
          <a:lstStyle/>
          <a:p>
            <a:fld id="{796493D9-7F5C-47F5-8E98-1C60EF4F71CC}" type="datetimeFigureOut">
              <a:rPr lang="en-IN" smtClean="0"/>
              <a:t>30-03-2026</a:t>
            </a:fld>
            <a:endParaRPr lang="en-IN"/>
          </a:p>
        </p:txBody>
      </p:sp>
      <p:sp>
        <p:nvSpPr>
          <p:cNvPr id="8" name="Footer Placeholder 7">
            <a:extLst>
              <a:ext uri="{FF2B5EF4-FFF2-40B4-BE49-F238E27FC236}">
                <a16:creationId xmlns:a16="http://schemas.microsoft.com/office/drawing/2014/main" id="{A42A9478-F3CC-B72D-99AA-833E4548BE0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B29A07E-78A4-AE38-1CE0-73EB238257F7}"/>
              </a:ext>
            </a:extLst>
          </p:cNvPr>
          <p:cNvSpPr>
            <a:spLocks noGrp="1"/>
          </p:cNvSpPr>
          <p:nvPr>
            <p:ph type="sldNum" sz="quarter" idx="12"/>
          </p:nvPr>
        </p:nvSpPr>
        <p:spPr/>
        <p:txBody>
          <a:bodyPr/>
          <a:lstStyle/>
          <a:p>
            <a:fld id="{582D6C33-9D63-45B4-A231-10259337FDAC}" type="slidenum">
              <a:rPr lang="en-IN" smtClean="0"/>
              <a:t>‹#›</a:t>
            </a:fld>
            <a:endParaRPr lang="en-IN"/>
          </a:p>
        </p:txBody>
      </p:sp>
    </p:spTree>
    <p:extLst>
      <p:ext uri="{BB962C8B-B14F-4D97-AF65-F5344CB8AC3E}">
        <p14:creationId xmlns:p14="http://schemas.microsoft.com/office/powerpoint/2010/main" val="484495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2B059-12F4-249B-C377-DD103EC0CE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D62985-BD66-C135-1E55-93D1A85142A8}"/>
              </a:ext>
            </a:extLst>
          </p:cNvPr>
          <p:cNvSpPr>
            <a:spLocks noGrp="1"/>
          </p:cNvSpPr>
          <p:nvPr>
            <p:ph type="dt" sz="half" idx="10"/>
          </p:nvPr>
        </p:nvSpPr>
        <p:spPr/>
        <p:txBody>
          <a:bodyPr/>
          <a:lstStyle/>
          <a:p>
            <a:fld id="{796493D9-7F5C-47F5-8E98-1C60EF4F71CC}" type="datetimeFigureOut">
              <a:rPr lang="en-IN" smtClean="0"/>
              <a:t>30-03-2026</a:t>
            </a:fld>
            <a:endParaRPr lang="en-IN"/>
          </a:p>
        </p:txBody>
      </p:sp>
      <p:sp>
        <p:nvSpPr>
          <p:cNvPr id="4" name="Footer Placeholder 3">
            <a:extLst>
              <a:ext uri="{FF2B5EF4-FFF2-40B4-BE49-F238E27FC236}">
                <a16:creationId xmlns:a16="http://schemas.microsoft.com/office/drawing/2014/main" id="{D15C4B8A-7DB7-9E03-E824-7FCD254A830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1031D2-9D27-71F9-831F-80B445F68D58}"/>
              </a:ext>
            </a:extLst>
          </p:cNvPr>
          <p:cNvSpPr>
            <a:spLocks noGrp="1"/>
          </p:cNvSpPr>
          <p:nvPr>
            <p:ph type="sldNum" sz="quarter" idx="12"/>
          </p:nvPr>
        </p:nvSpPr>
        <p:spPr/>
        <p:txBody>
          <a:bodyPr/>
          <a:lstStyle/>
          <a:p>
            <a:fld id="{582D6C33-9D63-45B4-A231-10259337FDAC}" type="slidenum">
              <a:rPr lang="en-IN" smtClean="0"/>
              <a:t>‹#›</a:t>
            </a:fld>
            <a:endParaRPr lang="en-IN"/>
          </a:p>
        </p:txBody>
      </p:sp>
    </p:spTree>
    <p:extLst>
      <p:ext uri="{BB962C8B-B14F-4D97-AF65-F5344CB8AC3E}">
        <p14:creationId xmlns:p14="http://schemas.microsoft.com/office/powerpoint/2010/main" val="4129340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A46638-1894-A688-3F0A-FEF57E1111B4}"/>
              </a:ext>
            </a:extLst>
          </p:cNvPr>
          <p:cNvSpPr>
            <a:spLocks noGrp="1"/>
          </p:cNvSpPr>
          <p:nvPr>
            <p:ph type="dt" sz="half" idx="10"/>
          </p:nvPr>
        </p:nvSpPr>
        <p:spPr/>
        <p:txBody>
          <a:bodyPr/>
          <a:lstStyle/>
          <a:p>
            <a:fld id="{796493D9-7F5C-47F5-8E98-1C60EF4F71CC}" type="datetimeFigureOut">
              <a:rPr lang="en-IN" smtClean="0"/>
              <a:t>30-03-2026</a:t>
            </a:fld>
            <a:endParaRPr lang="en-IN"/>
          </a:p>
        </p:txBody>
      </p:sp>
      <p:sp>
        <p:nvSpPr>
          <p:cNvPr id="3" name="Footer Placeholder 2">
            <a:extLst>
              <a:ext uri="{FF2B5EF4-FFF2-40B4-BE49-F238E27FC236}">
                <a16:creationId xmlns:a16="http://schemas.microsoft.com/office/drawing/2014/main" id="{210C6A6A-38B2-8BB1-0CC4-E6D9F2A0C6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7D88D5D-AB2B-4404-7189-2D9C1B045DD9}"/>
              </a:ext>
            </a:extLst>
          </p:cNvPr>
          <p:cNvSpPr>
            <a:spLocks noGrp="1"/>
          </p:cNvSpPr>
          <p:nvPr>
            <p:ph type="sldNum" sz="quarter" idx="12"/>
          </p:nvPr>
        </p:nvSpPr>
        <p:spPr/>
        <p:txBody>
          <a:bodyPr/>
          <a:lstStyle/>
          <a:p>
            <a:fld id="{582D6C33-9D63-45B4-A231-10259337FDAC}" type="slidenum">
              <a:rPr lang="en-IN" smtClean="0"/>
              <a:t>‹#›</a:t>
            </a:fld>
            <a:endParaRPr lang="en-IN"/>
          </a:p>
        </p:txBody>
      </p:sp>
    </p:spTree>
    <p:extLst>
      <p:ext uri="{BB962C8B-B14F-4D97-AF65-F5344CB8AC3E}">
        <p14:creationId xmlns:p14="http://schemas.microsoft.com/office/powerpoint/2010/main" val="2164214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03885-E42C-2665-48CF-D9B0FC7584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664EE2E-2940-9C9D-E647-4A1B756CB8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B4E732-603A-F6BA-16DF-0DA63BB5FA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473114-8BC5-6E6F-7D5C-CBCF66208B54}"/>
              </a:ext>
            </a:extLst>
          </p:cNvPr>
          <p:cNvSpPr>
            <a:spLocks noGrp="1"/>
          </p:cNvSpPr>
          <p:nvPr>
            <p:ph type="dt" sz="half" idx="10"/>
          </p:nvPr>
        </p:nvSpPr>
        <p:spPr/>
        <p:txBody>
          <a:bodyPr/>
          <a:lstStyle/>
          <a:p>
            <a:fld id="{796493D9-7F5C-47F5-8E98-1C60EF4F71CC}" type="datetimeFigureOut">
              <a:rPr lang="en-IN" smtClean="0"/>
              <a:t>30-03-2026</a:t>
            </a:fld>
            <a:endParaRPr lang="en-IN"/>
          </a:p>
        </p:txBody>
      </p:sp>
      <p:sp>
        <p:nvSpPr>
          <p:cNvPr id="6" name="Footer Placeholder 5">
            <a:extLst>
              <a:ext uri="{FF2B5EF4-FFF2-40B4-BE49-F238E27FC236}">
                <a16:creationId xmlns:a16="http://schemas.microsoft.com/office/drawing/2014/main" id="{3304A5A0-21A4-D890-27F5-193AB01F27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AB3A3F-FE7D-451D-F4F3-A6DB0CAF15A3}"/>
              </a:ext>
            </a:extLst>
          </p:cNvPr>
          <p:cNvSpPr>
            <a:spLocks noGrp="1"/>
          </p:cNvSpPr>
          <p:nvPr>
            <p:ph type="sldNum" sz="quarter" idx="12"/>
          </p:nvPr>
        </p:nvSpPr>
        <p:spPr/>
        <p:txBody>
          <a:bodyPr/>
          <a:lstStyle/>
          <a:p>
            <a:fld id="{582D6C33-9D63-45B4-A231-10259337FDAC}" type="slidenum">
              <a:rPr lang="en-IN" smtClean="0"/>
              <a:t>‹#›</a:t>
            </a:fld>
            <a:endParaRPr lang="en-IN"/>
          </a:p>
        </p:txBody>
      </p:sp>
    </p:spTree>
    <p:extLst>
      <p:ext uri="{BB962C8B-B14F-4D97-AF65-F5344CB8AC3E}">
        <p14:creationId xmlns:p14="http://schemas.microsoft.com/office/powerpoint/2010/main" val="733466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CD0C2-1C6D-F2C7-825D-CD7F72CAD1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9484D52-905E-CE21-C6C9-5024C9AB7D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E7DB51-A43B-E05D-7B54-61EBD0BF32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9DBB21-2318-4BC8-F7BE-98719E1C83DC}"/>
              </a:ext>
            </a:extLst>
          </p:cNvPr>
          <p:cNvSpPr>
            <a:spLocks noGrp="1"/>
          </p:cNvSpPr>
          <p:nvPr>
            <p:ph type="dt" sz="half" idx="10"/>
          </p:nvPr>
        </p:nvSpPr>
        <p:spPr/>
        <p:txBody>
          <a:bodyPr/>
          <a:lstStyle/>
          <a:p>
            <a:fld id="{796493D9-7F5C-47F5-8E98-1C60EF4F71CC}" type="datetimeFigureOut">
              <a:rPr lang="en-IN" smtClean="0"/>
              <a:t>30-03-2026</a:t>
            </a:fld>
            <a:endParaRPr lang="en-IN"/>
          </a:p>
        </p:txBody>
      </p:sp>
      <p:sp>
        <p:nvSpPr>
          <p:cNvPr id="6" name="Footer Placeholder 5">
            <a:extLst>
              <a:ext uri="{FF2B5EF4-FFF2-40B4-BE49-F238E27FC236}">
                <a16:creationId xmlns:a16="http://schemas.microsoft.com/office/drawing/2014/main" id="{0BDB9476-A0F1-26A8-FB6D-19707FBF47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3B3D04-C708-8587-7B5A-D2812FC185B3}"/>
              </a:ext>
            </a:extLst>
          </p:cNvPr>
          <p:cNvSpPr>
            <a:spLocks noGrp="1"/>
          </p:cNvSpPr>
          <p:nvPr>
            <p:ph type="sldNum" sz="quarter" idx="12"/>
          </p:nvPr>
        </p:nvSpPr>
        <p:spPr/>
        <p:txBody>
          <a:bodyPr/>
          <a:lstStyle/>
          <a:p>
            <a:fld id="{582D6C33-9D63-45B4-A231-10259337FDAC}" type="slidenum">
              <a:rPr lang="en-IN" smtClean="0"/>
              <a:t>‹#›</a:t>
            </a:fld>
            <a:endParaRPr lang="en-IN"/>
          </a:p>
        </p:txBody>
      </p:sp>
    </p:spTree>
    <p:extLst>
      <p:ext uri="{BB962C8B-B14F-4D97-AF65-F5344CB8AC3E}">
        <p14:creationId xmlns:p14="http://schemas.microsoft.com/office/powerpoint/2010/main" val="3302739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0E931-9FAD-061F-F01B-98FE7F4806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558F6A-27F7-E759-6CE9-C1FDF4A23C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884826-26C4-6C4F-8F3C-26667D03E5EF}"/>
              </a:ext>
            </a:extLst>
          </p:cNvPr>
          <p:cNvSpPr>
            <a:spLocks noGrp="1"/>
          </p:cNvSpPr>
          <p:nvPr>
            <p:ph type="dt" sz="half" idx="10"/>
          </p:nvPr>
        </p:nvSpPr>
        <p:spPr/>
        <p:txBody>
          <a:bodyPr/>
          <a:lstStyle/>
          <a:p>
            <a:fld id="{796493D9-7F5C-47F5-8E98-1C60EF4F71CC}" type="datetimeFigureOut">
              <a:rPr lang="en-IN" smtClean="0"/>
              <a:t>30-03-2026</a:t>
            </a:fld>
            <a:endParaRPr lang="en-IN"/>
          </a:p>
        </p:txBody>
      </p:sp>
      <p:sp>
        <p:nvSpPr>
          <p:cNvPr id="5" name="Footer Placeholder 4">
            <a:extLst>
              <a:ext uri="{FF2B5EF4-FFF2-40B4-BE49-F238E27FC236}">
                <a16:creationId xmlns:a16="http://schemas.microsoft.com/office/drawing/2014/main" id="{FCA3436A-614A-906D-2C15-4216EEDDEE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7D6C72-A66C-0D51-3D88-8CBDB553F8A7}"/>
              </a:ext>
            </a:extLst>
          </p:cNvPr>
          <p:cNvSpPr>
            <a:spLocks noGrp="1"/>
          </p:cNvSpPr>
          <p:nvPr>
            <p:ph type="sldNum" sz="quarter" idx="12"/>
          </p:nvPr>
        </p:nvSpPr>
        <p:spPr/>
        <p:txBody>
          <a:bodyPr/>
          <a:lstStyle/>
          <a:p>
            <a:fld id="{582D6C33-9D63-45B4-A231-10259337FDAC}" type="slidenum">
              <a:rPr lang="en-IN" smtClean="0"/>
              <a:t>‹#›</a:t>
            </a:fld>
            <a:endParaRPr lang="en-IN"/>
          </a:p>
        </p:txBody>
      </p:sp>
    </p:spTree>
    <p:extLst>
      <p:ext uri="{BB962C8B-B14F-4D97-AF65-F5344CB8AC3E}">
        <p14:creationId xmlns:p14="http://schemas.microsoft.com/office/powerpoint/2010/main" val="2776867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B33D6D-8314-D97F-788D-F8E25CEC78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27F858-5A8E-C6BE-576E-928715CCDB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1CAD86-83BF-1426-517F-8B7B001859BC}"/>
              </a:ext>
            </a:extLst>
          </p:cNvPr>
          <p:cNvSpPr>
            <a:spLocks noGrp="1"/>
          </p:cNvSpPr>
          <p:nvPr>
            <p:ph type="dt" sz="half" idx="10"/>
          </p:nvPr>
        </p:nvSpPr>
        <p:spPr/>
        <p:txBody>
          <a:bodyPr/>
          <a:lstStyle/>
          <a:p>
            <a:fld id="{796493D9-7F5C-47F5-8E98-1C60EF4F71CC}" type="datetimeFigureOut">
              <a:rPr lang="en-IN" smtClean="0"/>
              <a:t>30-03-2026</a:t>
            </a:fld>
            <a:endParaRPr lang="en-IN"/>
          </a:p>
        </p:txBody>
      </p:sp>
      <p:sp>
        <p:nvSpPr>
          <p:cNvPr id="5" name="Footer Placeholder 4">
            <a:extLst>
              <a:ext uri="{FF2B5EF4-FFF2-40B4-BE49-F238E27FC236}">
                <a16:creationId xmlns:a16="http://schemas.microsoft.com/office/drawing/2014/main" id="{F279BBBE-D974-7E66-3E46-C71469489E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C626CA-E139-B52A-F5E0-EDDBAFD7A253}"/>
              </a:ext>
            </a:extLst>
          </p:cNvPr>
          <p:cNvSpPr>
            <a:spLocks noGrp="1"/>
          </p:cNvSpPr>
          <p:nvPr>
            <p:ph type="sldNum" sz="quarter" idx="12"/>
          </p:nvPr>
        </p:nvSpPr>
        <p:spPr/>
        <p:txBody>
          <a:bodyPr/>
          <a:lstStyle/>
          <a:p>
            <a:fld id="{582D6C33-9D63-45B4-A231-10259337FDAC}" type="slidenum">
              <a:rPr lang="en-IN" smtClean="0"/>
              <a:t>‹#›</a:t>
            </a:fld>
            <a:endParaRPr lang="en-IN"/>
          </a:p>
        </p:txBody>
      </p:sp>
    </p:spTree>
    <p:extLst>
      <p:ext uri="{BB962C8B-B14F-4D97-AF65-F5344CB8AC3E}">
        <p14:creationId xmlns:p14="http://schemas.microsoft.com/office/powerpoint/2010/main" val="3414554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62C26D-6772-B901-3CA6-6F89FD3FA0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70F9F6-BE13-2FB4-5B89-D63CAB948B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3C8B5B-3FEE-4F6D-59D3-F35314DD4A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6493D9-7F5C-47F5-8E98-1C60EF4F71CC}" type="datetimeFigureOut">
              <a:rPr lang="en-IN" smtClean="0"/>
              <a:t>30-03-2026</a:t>
            </a:fld>
            <a:endParaRPr lang="en-IN"/>
          </a:p>
        </p:txBody>
      </p:sp>
      <p:sp>
        <p:nvSpPr>
          <p:cNvPr id="5" name="Footer Placeholder 4">
            <a:extLst>
              <a:ext uri="{FF2B5EF4-FFF2-40B4-BE49-F238E27FC236}">
                <a16:creationId xmlns:a16="http://schemas.microsoft.com/office/drawing/2014/main" id="{42B06B37-B32F-5155-64D7-788C19CFAE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400E1CB-18ED-8D17-2AE2-456629E891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2D6C33-9D63-45B4-A231-10259337FDAC}" type="slidenum">
              <a:rPr lang="en-IN" smtClean="0"/>
              <a:t>‹#›</a:t>
            </a:fld>
            <a:endParaRPr lang="en-IN"/>
          </a:p>
        </p:txBody>
      </p:sp>
    </p:spTree>
    <p:extLst>
      <p:ext uri="{BB962C8B-B14F-4D97-AF65-F5344CB8AC3E}">
        <p14:creationId xmlns:p14="http://schemas.microsoft.com/office/powerpoint/2010/main" val="1801030001"/>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CB46C-5CFE-7E04-10D4-F7C714C95F31}"/>
              </a:ext>
            </a:extLst>
          </p:cNvPr>
          <p:cNvSpPr>
            <a:spLocks noGrp="1"/>
          </p:cNvSpPr>
          <p:nvPr>
            <p:ph type="ctrTitle"/>
          </p:nvPr>
        </p:nvSpPr>
        <p:spPr/>
        <p:txBody>
          <a:bodyPr>
            <a:normAutofit/>
          </a:bodyPr>
          <a:lstStyle/>
          <a:p>
            <a:r>
              <a:rPr lang="en-US" sz="5000" b="1" dirty="0">
                <a:solidFill>
                  <a:schemeClr val="accent5">
                    <a:lumMod val="50000"/>
                  </a:schemeClr>
                </a:solidFill>
              </a:rPr>
              <a:t>Detecting Playing Card Edges and Corners in Real-World Scenes</a:t>
            </a:r>
            <a:br>
              <a:rPr lang="en-US" sz="5000" b="1" dirty="0">
                <a:solidFill>
                  <a:schemeClr val="accent5">
                    <a:lumMod val="50000"/>
                  </a:schemeClr>
                </a:solidFill>
              </a:rPr>
            </a:br>
            <a:r>
              <a:rPr lang="en-US" sz="5000" b="1" dirty="0">
                <a:solidFill>
                  <a:schemeClr val="accent5">
                    <a:lumMod val="50000"/>
                  </a:schemeClr>
                </a:solidFill>
              </a:rPr>
              <a:t>Using Classical Computer Vision</a:t>
            </a:r>
            <a:endParaRPr lang="en-IN" sz="5000" b="1" dirty="0">
              <a:solidFill>
                <a:schemeClr val="accent5">
                  <a:lumMod val="50000"/>
                </a:schemeClr>
              </a:solidFill>
            </a:endParaRPr>
          </a:p>
        </p:txBody>
      </p:sp>
      <p:sp>
        <p:nvSpPr>
          <p:cNvPr id="3" name="Subtitle 2">
            <a:extLst>
              <a:ext uri="{FF2B5EF4-FFF2-40B4-BE49-F238E27FC236}">
                <a16:creationId xmlns:a16="http://schemas.microsoft.com/office/drawing/2014/main" id="{D475AD9B-3BA9-792B-4480-A9624FDAFF43}"/>
              </a:ext>
            </a:extLst>
          </p:cNvPr>
          <p:cNvSpPr>
            <a:spLocks noGrp="1"/>
          </p:cNvSpPr>
          <p:nvPr>
            <p:ph type="subTitle" idx="1"/>
          </p:nvPr>
        </p:nvSpPr>
        <p:spPr>
          <a:xfrm>
            <a:off x="1524000" y="4136570"/>
            <a:ext cx="9144000" cy="1121229"/>
          </a:xfrm>
        </p:spPr>
        <p:txBody>
          <a:bodyPr/>
          <a:lstStyle/>
          <a:p>
            <a:r>
              <a:rPr lang="en-US" i="1" dirty="0">
                <a:solidFill>
                  <a:schemeClr val="tx1">
                    <a:lumMod val="75000"/>
                    <a:lumOff val="25000"/>
                  </a:schemeClr>
                </a:solidFill>
              </a:rPr>
              <a:t>Developed By </a:t>
            </a:r>
          </a:p>
          <a:p>
            <a:r>
              <a:rPr lang="en-US" i="1" dirty="0">
                <a:solidFill>
                  <a:schemeClr val="tx1">
                    <a:lumMod val="75000"/>
                    <a:lumOff val="25000"/>
                  </a:schemeClr>
                </a:solidFill>
              </a:rPr>
              <a:t>Mounika Teppola &amp; Bala Swapnika Gopi</a:t>
            </a:r>
            <a:endParaRPr lang="en-IN" i="1" dirty="0">
              <a:solidFill>
                <a:schemeClr val="tx1">
                  <a:lumMod val="75000"/>
                  <a:lumOff val="25000"/>
                </a:schemeClr>
              </a:solidFill>
            </a:endParaRPr>
          </a:p>
        </p:txBody>
      </p:sp>
    </p:spTree>
    <p:extLst>
      <p:ext uri="{BB962C8B-B14F-4D97-AF65-F5344CB8AC3E}">
        <p14:creationId xmlns:p14="http://schemas.microsoft.com/office/powerpoint/2010/main" val="4015419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F7B4C-C7CE-351A-D7B5-591D29B738B8}"/>
              </a:ext>
            </a:extLst>
          </p:cNvPr>
          <p:cNvSpPr>
            <a:spLocks noGrp="1"/>
          </p:cNvSpPr>
          <p:nvPr>
            <p:ph type="title"/>
          </p:nvPr>
        </p:nvSpPr>
        <p:spPr/>
        <p:txBody>
          <a:bodyPr/>
          <a:lstStyle/>
          <a:p>
            <a:r>
              <a:rPr lang="en-US" b="1" dirty="0">
                <a:solidFill>
                  <a:schemeClr val="accent1">
                    <a:lumMod val="50000"/>
                  </a:schemeClr>
                </a:solidFill>
              </a:rPr>
              <a:t>What is this Project About?</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77B2F551-BCF3-1AAA-56C4-EF401C6D83B1}"/>
              </a:ext>
            </a:extLst>
          </p:cNvPr>
          <p:cNvSpPr>
            <a:spLocks noGrp="1"/>
          </p:cNvSpPr>
          <p:nvPr>
            <p:ph idx="1"/>
          </p:nvPr>
        </p:nvSpPr>
        <p:spPr/>
        <p:txBody>
          <a:bodyPr/>
          <a:lstStyle/>
          <a:p>
            <a:pPr algn="just"/>
            <a:r>
              <a:rPr lang="en-US" dirty="0">
                <a:solidFill>
                  <a:schemeClr val="tx1">
                    <a:lumMod val="75000"/>
                    <a:lumOff val="25000"/>
                  </a:schemeClr>
                </a:solidFill>
              </a:rPr>
              <a:t>This project focuses on detecting the edges and corners of playing cards using simple computer vision techniques. Instead of using advanced machine learning models, we rely on classical methods that analyze image structure such as boundaries and sharp points.</a:t>
            </a:r>
          </a:p>
          <a:p>
            <a:pPr algn="just"/>
            <a:endParaRPr lang="en-US" dirty="0">
              <a:solidFill>
                <a:schemeClr val="tx1">
                  <a:lumMod val="75000"/>
                  <a:lumOff val="25000"/>
                </a:schemeClr>
              </a:solidFill>
            </a:endParaRPr>
          </a:p>
          <a:p>
            <a:pPr algn="just"/>
            <a:r>
              <a:rPr lang="en-US" dirty="0">
                <a:solidFill>
                  <a:schemeClr val="tx1">
                    <a:lumMod val="75000"/>
                    <a:lumOff val="25000"/>
                  </a:schemeClr>
                </a:solidFill>
              </a:rPr>
              <a:t>The goal is to understand how these methods perform in real-world environments where images contain clutter, lighting variations, and multiple objects. </a:t>
            </a:r>
          </a:p>
          <a:p>
            <a:pPr marL="0" indent="0">
              <a:buNone/>
            </a:pPr>
            <a:endParaRPr lang="en-IN" dirty="0"/>
          </a:p>
        </p:txBody>
      </p:sp>
    </p:spTree>
    <p:extLst>
      <p:ext uri="{BB962C8B-B14F-4D97-AF65-F5344CB8AC3E}">
        <p14:creationId xmlns:p14="http://schemas.microsoft.com/office/powerpoint/2010/main" val="762668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4D926-9C07-1BEA-1987-D87E316BE7FB}"/>
              </a:ext>
            </a:extLst>
          </p:cNvPr>
          <p:cNvSpPr>
            <a:spLocks noGrp="1"/>
          </p:cNvSpPr>
          <p:nvPr>
            <p:ph type="title"/>
          </p:nvPr>
        </p:nvSpPr>
        <p:spPr/>
        <p:txBody>
          <a:bodyPr/>
          <a:lstStyle/>
          <a:p>
            <a:r>
              <a:rPr lang="en-IN" b="1" dirty="0">
                <a:solidFill>
                  <a:schemeClr val="accent1">
                    <a:lumMod val="50000"/>
                  </a:schemeClr>
                </a:solidFill>
              </a:rPr>
              <a:t>Why is this Important?</a:t>
            </a:r>
          </a:p>
        </p:txBody>
      </p:sp>
      <p:sp>
        <p:nvSpPr>
          <p:cNvPr id="3" name="Content Placeholder 2">
            <a:extLst>
              <a:ext uri="{FF2B5EF4-FFF2-40B4-BE49-F238E27FC236}">
                <a16:creationId xmlns:a16="http://schemas.microsoft.com/office/drawing/2014/main" id="{E454E5F9-1D3D-5980-696E-566E2122E9DA}"/>
              </a:ext>
            </a:extLst>
          </p:cNvPr>
          <p:cNvSpPr>
            <a:spLocks noGrp="1"/>
          </p:cNvSpPr>
          <p:nvPr>
            <p:ph idx="1"/>
          </p:nvPr>
        </p:nvSpPr>
        <p:spPr/>
        <p:txBody>
          <a:bodyPr/>
          <a:lstStyle/>
          <a:p>
            <a:pPr algn="just"/>
            <a:r>
              <a:rPr lang="en-US" dirty="0">
                <a:solidFill>
                  <a:schemeClr val="tx1">
                    <a:lumMod val="75000"/>
                    <a:lumOff val="25000"/>
                  </a:schemeClr>
                </a:solidFill>
              </a:rPr>
              <a:t>Edge and corner detection helps computers understand shapes and structures in images.</a:t>
            </a:r>
          </a:p>
          <a:p>
            <a:pPr algn="just"/>
            <a:endParaRPr lang="en-US" dirty="0">
              <a:solidFill>
                <a:schemeClr val="tx1">
                  <a:lumMod val="75000"/>
                  <a:lumOff val="25000"/>
                </a:schemeClr>
              </a:solidFill>
            </a:endParaRPr>
          </a:p>
          <a:p>
            <a:pPr algn="just"/>
            <a:r>
              <a:rPr lang="en-US" dirty="0">
                <a:solidFill>
                  <a:schemeClr val="tx1">
                    <a:lumMod val="75000"/>
                    <a:lumOff val="25000"/>
                  </a:schemeClr>
                </a:solidFill>
              </a:rPr>
              <a:t>However, real-world images are often messy and complex. This project helps us analyze how well these basic techniques work when conditions are not ideal, such as in cluttered scenes or uneven lighting.</a:t>
            </a:r>
          </a:p>
          <a:p>
            <a:pPr marL="0" indent="0">
              <a:buNone/>
            </a:pPr>
            <a:endParaRPr lang="en-IN" dirty="0"/>
          </a:p>
        </p:txBody>
      </p:sp>
    </p:spTree>
    <p:extLst>
      <p:ext uri="{BB962C8B-B14F-4D97-AF65-F5344CB8AC3E}">
        <p14:creationId xmlns:p14="http://schemas.microsoft.com/office/powerpoint/2010/main" val="1286797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3CA1-78AA-5A3C-2B7F-31AFB0AFDAD8}"/>
              </a:ext>
            </a:extLst>
          </p:cNvPr>
          <p:cNvSpPr>
            <a:spLocks noGrp="1"/>
          </p:cNvSpPr>
          <p:nvPr>
            <p:ph type="title"/>
          </p:nvPr>
        </p:nvSpPr>
        <p:spPr/>
        <p:txBody>
          <a:bodyPr/>
          <a:lstStyle/>
          <a:p>
            <a:r>
              <a:rPr lang="en-IN" b="1" dirty="0">
                <a:solidFill>
                  <a:schemeClr val="accent1">
                    <a:lumMod val="50000"/>
                  </a:schemeClr>
                </a:solidFill>
              </a:rPr>
              <a:t>Dataset</a:t>
            </a:r>
          </a:p>
        </p:txBody>
      </p:sp>
      <p:sp>
        <p:nvSpPr>
          <p:cNvPr id="3" name="Content Placeholder 2">
            <a:extLst>
              <a:ext uri="{FF2B5EF4-FFF2-40B4-BE49-F238E27FC236}">
                <a16:creationId xmlns:a16="http://schemas.microsoft.com/office/drawing/2014/main" id="{77D4F891-8152-C6A3-84EA-EDC3562CC11E}"/>
              </a:ext>
            </a:extLst>
          </p:cNvPr>
          <p:cNvSpPr>
            <a:spLocks noGrp="1"/>
          </p:cNvSpPr>
          <p:nvPr>
            <p:ph idx="1"/>
          </p:nvPr>
        </p:nvSpPr>
        <p:spPr/>
        <p:txBody>
          <a:bodyPr>
            <a:normAutofit/>
          </a:bodyPr>
          <a:lstStyle/>
          <a:p>
            <a:r>
              <a:rPr lang="en-US" dirty="0">
                <a:solidFill>
                  <a:schemeClr val="tx1">
                    <a:lumMod val="75000"/>
                    <a:lumOff val="25000"/>
                  </a:schemeClr>
                </a:solidFill>
              </a:rPr>
              <a:t>We created our own dataset with over 150 images and 3 videos of playing cards in real-world scenes.</a:t>
            </a:r>
          </a:p>
          <a:p>
            <a:r>
              <a:rPr lang="en-US" dirty="0">
                <a:solidFill>
                  <a:schemeClr val="tx1">
                    <a:lumMod val="75000"/>
                    <a:lumOff val="25000"/>
                  </a:schemeClr>
                </a:solidFill>
              </a:rPr>
              <a:t>These scenes include:</a:t>
            </a:r>
          </a:p>
          <a:p>
            <a:pPr lvl="1"/>
            <a:r>
              <a:rPr lang="en-US" dirty="0">
                <a:solidFill>
                  <a:schemeClr val="tx1">
                    <a:lumMod val="75000"/>
                    <a:lumOff val="25000"/>
                  </a:schemeClr>
                </a:solidFill>
              </a:rPr>
              <a:t>Cards on clean backgrounds (baseline cases) </a:t>
            </a:r>
          </a:p>
          <a:p>
            <a:pPr lvl="1"/>
            <a:r>
              <a:rPr lang="en-US" dirty="0">
                <a:solidFill>
                  <a:schemeClr val="tx1">
                    <a:lumMod val="75000"/>
                    <a:lumOff val="25000"/>
                  </a:schemeClr>
                </a:solidFill>
              </a:rPr>
              <a:t>Cards on cluttered or textured surfaces </a:t>
            </a:r>
          </a:p>
          <a:p>
            <a:pPr lvl="1"/>
            <a:r>
              <a:rPr lang="en-US" dirty="0">
                <a:solidFill>
                  <a:schemeClr val="tx1">
                    <a:lumMod val="75000"/>
                    <a:lumOff val="25000"/>
                  </a:schemeClr>
                </a:solidFill>
              </a:rPr>
              <a:t>Different angles and rotations </a:t>
            </a:r>
          </a:p>
          <a:p>
            <a:pPr lvl="1"/>
            <a:r>
              <a:rPr lang="en-US" dirty="0">
                <a:solidFill>
                  <a:schemeClr val="tx1">
                    <a:lumMod val="75000"/>
                    <a:lumOff val="25000"/>
                  </a:schemeClr>
                </a:solidFill>
              </a:rPr>
              <a:t>Uneven or low lighting conditions </a:t>
            </a:r>
          </a:p>
          <a:p>
            <a:pPr lvl="1"/>
            <a:r>
              <a:rPr lang="en-US" dirty="0">
                <a:solidFill>
                  <a:schemeClr val="tx1">
                    <a:lumMod val="75000"/>
                    <a:lumOff val="25000"/>
                  </a:schemeClr>
                </a:solidFill>
              </a:rPr>
              <a:t>Partially occluded cards </a:t>
            </a:r>
          </a:p>
          <a:p>
            <a:pPr lvl="1"/>
            <a:r>
              <a:rPr lang="en-US" dirty="0">
                <a:solidFill>
                  <a:schemeClr val="tx1">
                    <a:lumMod val="75000"/>
                    <a:lumOff val="25000"/>
                  </a:schemeClr>
                </a:solidFill>
              </a:rPr>
              <a:t>Motion blur in video frames </a:t>
            </a:r>
          </a:p>
          <a:p>
            <a:pPr lvl="1"/>
            <a:r>
              <a:rPr lang="en-US" dirty="0">
                <a:solidFill>
                  <a:schemeClr val="tx1">
                    <a:lumMod val="75000"/>
                    <a:lumOff val="25000"/>
                  </a:schemeClr>
                </a:solidFill>
              </a:rPr>
              <a:t>Different scales (varying distances) </a:t>
            </a:r>
          </a:p>
          <a:p>
            <a:endParaRPr lang="en-US" dirty="0"/>
          </a:p>
          <a:p>
            <a:pPr marL="0" indent="0">
              <a:buNone/>
            </a:pPr>
            <a:endParaRPr lang="en-IN" dirty="0"/>
          </a:p>
        </p:txBody>
      </p:sp>
      <p:pic>
        <p:nvPicPr>
          <p:cNvPr id="9" name="Picture 8">
            <a:extLst>
              <a:ext uri="{FF2B5EF4-FFF2-40B4-BE49-F238E27FC236}">
                <a16:creationId xmlns:a16="http://schemas.microsoft.com/office/drawing/2014/main" id="{FC76E73D-5592-B77C-B48C-5CF2018A8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5893" y="3074397"/>
            <a:ext cx="1457528" cy="1971950"/>
          </a:xfrm>
          <a:prstGeom prst="rect">
            <a:avLst/>
          </a:prstGeom>
        </p:spPr>
      </p:pic>
      <p:pic>
        <p:nvPicPr>
          <p:cNvPr id="11" name="Picture 10">
            <a:extLst>
              <a:ext uri="{FF2B5EF4-FFF2-40B4-BE49-F238E27FC236}">
                <a16:creationId xmlns:a16="http://schemas.microsoft.com/office/drawing/2014/main" id="{6B76958F-71FB-35FC-FCE8-1F917433BF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15377" y="3074397"/>
            <a:ext cx="1238423" cy="1971950"/>
          </a:xfrm>
          <a:prstGeom prst="rect">
            <a:avLst/>
          </a:prstGeom>
        </p:spPr>
      </p:pic>
      <p:sp>
        <p:nvSpPr>
          <p:cNvPr id="13" name="TextBox 12">
            <a:extLst>
              <a:ext uri="{FF2B5EF4-FFF2-40B4-BE49-F238E27FC236}">
                <a16:creationId xmlns:a16="http://schemas.microsoft.com/office/drawing/2014/main" id="{280D3AED-E87A-534F-FFC4-9E07F7FB5631}"/>
              </a:ext>
            </a:extLst>
          </p:cNvPr>
          <p:cNvSpPr txBox="1"/>
          <p:nvPr/>
        </p:nvSpPr>
        <p:spPr>
          <a:xfrm>
            <a:off x="7333902" y="5046347"/>
            <a:ext cx="2161510" cy="307777"/>
          </a:xfrm>
          <a:prstGeom prst="rect">
            <a:avLst/>
          </a:prstGeom>
          <a:noFill/>
        </p:spPr>
        <p:txBody>
          <a:bodyPr wrap="square" rtlCol="0">
            <a:spAutoFit/>
          </a:bodyPr>
          <a:lstStyle/>
          <a:p>
            <a:r>
              <a:rPr lang="en-IN" sz="1400" dirty="0"/>
              <a:t>Fig 1 : Rotation and scaling</a:t>
            </a:r>
          </a:p>
        </p:txBody>
      </p:sp>
      <p:sp>
        <p:nvSpPr>
          <p:cNvPr id="14" name="TextBox 13">
            <a:extLst>
              <a:ext uri="{FF2B5EF4-FFF2-40B4-BE49-F238E27FC236}">
                <a16:creationId xmlns:a16="http://schemas.microsoft.com/office/drawing/2014/main" id="{1E96F28F-33C0-969E-34DD-C887C085F863}"/>
              </a:ext>
            </a:extLst>
          </p:cNvPr>
          <p:cNvSpPr txBox="1"/>
          <p:nvPr/>
        </p:nvSpPr>
        <p:spPr>
          <a:xfrm>
            <a:off x="9757590" y="5046347"/>
            <a:ext cx="1953996" cy="523220"/>
          </a:xfrm>
          <a:prstGeom prst="rect">
            <a:avLst/>
          </a:prstGeom>
          <a:noFill/>
        </p:spPr>
        <p:txBody>
          <a:bodyPr wrap="none" rtlCol="0">
            <a:spAutoFit/>
          </a:bodyPr>
          <a:lstStyle/>
          <a:p>
            <a:r>
              <a:rPr lang="en-IN" sz="1400" dirty="0"/>
              <a:t>Fig 2 : Lighting, shadows</a:t>
            </a:r>
          </a:p>
          <a:p>
            <a:r>
              <a:rPr lang="en-IN" sz="1400" dirty="0"/>
              <a:t> and partial occlusion</a:t>
            </a:r>
          </a:p>
        </p:txBody>
      </p:sp>
    </p:spTree>
    <p:extLst>
      <p:ext uri="{BB962C8B-B14F-4D97-AF65-F5344CB8AC3E}">
        <p14:creationId xmlns:p14="http://schemas.microsoft.com/office/powerpoint/2010/main" val="3193816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03FF1-F9A5-2EE3-DF3A-67DD1EF543F7}"/>
              </a:ext>
            </a:extLst>
          </p:cNvPr>
          <p:cNvSpPr>
            <a:spLocks noGrp="1"/>
          </p:cNvSpPr>
          <p:nvPr>
            <p:ph type="title"/>
          </p:nvPr>
        </p:nvSpPr>
        <p:spPr/>
        <p:txBody>
          <a:bodyPr/>
          <a:lstStyle/>
          <a:p>
            <a:r>
              <a:rPr lang="en-US" b="1" dirty="0">
                <a:solidFill>
                  <a:schemeClr val="accent1">
                    <a:lumMod val="50000"/>
                  </a:schemeClr>
                </a:solidFill>
              </a:rPr>
              <a:t>System Pipeline (How It Works)</a:t>
            </a:r>
            <a:endParaRPr lang="en-IN" b="1" dirty="0">
              <a:solidFill>
                <a:schemeClr val="accent1">
                  <a:lumMod val="50000"/>
                </a:schemeClr>
              </a:solidFill>
            </a:endParaRPr>
          </a:p>
        </p:txBody>
      </p:sp>
      <p:sp>
        <p:nvSpPr>
          <p:cNvPr id="6" name="TextBox 5">
            <a:extLst>
              <a:ext uri="{FF2B5EF4-FFF2-40B4-BE49-F238E27FC236}">
                <a16:creationId xmlns:a16="http://schemas.microsoft.com/office/drawing/2014/main" id="{E52B3E87-5BBD-5150-BE80-001C2996ECA9}"/>
              </a:ext>
            </a:extLst>
          </p:cNvPr>
          <p:cNvSpPr txBox="1"/>
          <p:nvPr/>
        </p:nvSpPr>
        <p:spPr>
          <a:xfrm>
            <a:off x="1099942" y="4496685"/>
            <a:ext cx="1559205" cy="369332"/>
          </a:xfrm>
          <a:prstGeom prst="rect">
            <a:avLst/>
          </a:prstGeom>
          <a:noFill/>
        </p:spPr>
        <p:txBody>
          <a:bodyPr wrap="square" rtlCol="0">
            <a:spAutoFit/>
          </a:bodyPr>
          <a:lstStyle/>
          <a:p>
            <a:r>
              <a:rPr lang="en-US" dirty="0"/>
              <a:t>       </a:t>
            </a:r>
            <a:endParaRPr lang="en-IN" b="1" dirty="0">
              <a:solidFill>
                <a:schemeClr val="tx1">
                  <a:lumMod val="75000"/>
                  <a:lumOff val="25000"/>
                </a:schemeClr>
              </a:solidFill>
            </a:endParaRPr>
          </a:p>
        </p:txBody>
      </p:sp>
      <p:cxnSp>
        <p:nvCxnSpPr>
          <p:cNvPr id="8" name="Straight Arrow Connector 7">
            <a:extLst>
              <a:ext uri="{FF2B5EF4-FFF2-40B4-BE49-F238E27FC236}">
                <a16:creationId xmlns:a16="http://schemas.microsoft.com/office/drawing/2014/main" id="{E2E238A3-DF9E-6E65-52BD-E7D6CF805B19}"/>
              </a:ext>
            </a:extLst>
          </p:cNvPr>
          <p:cNvCxnSpPr/>
          <p:nvPr/>
        </p:nvCxnSpPr>
        <p:spPr>
          <a:xfrm>
            <a:off x="2081719" y="3613666"/>
            <a:ext cx="51013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14E3FF58-DA6C-C00F-AC98-F2631934D2C7}"/>
              </a:ext>
            </a:extLst>
          </p:cNvPr>
          <p:cNvCxnSpPr/>
          <p:nvPr/>
        </p:nvCxnSpPr>
        <p:spPr>
          <a:xfrm>
            <a:off x="4543036" y="3613666"/>
            <a:ext cx="51013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76C05238-5791-45E2-A5C7-8E5842DEF37E}"/>
              </a:ext>
            </a:extLst>
          </p:cNvPr>
          <p:cNvCxnSpPr>
            <a:cxnSpLocks/>
          </p:cNvCxnSpPr>
          <p:nvPr/>
        </p:nvCxnSpPr>
        <p:spPr>
          <a:xfrm flipV="1">
            <a:off x="6745617" y="3224463"/>
            <a:ext cx="531082" cy="3892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88ACA103-0BBD-5A8D-F269-6BC16DDB4987}"/>
              </a:ext>
            </a:extLst>
          </p:cNvPr>
          <p:cNvCxnSpPr>
            <a:cxnSpLocks/>
          </p:cNvCxnSpPr>
          <p:nvPr/>
        </p:nvCxnSpPr>
        <p:spPr>
          <a:xfrm>
            <a:off x="6741694" y="3761791"/>
            <a:ext cx="592236" cy="3655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1BB21ADB-44B6-9ADD-6E2A-5E16313121C4}"/>
              </a:ext>
            </a:extLst>
          </p:cNvPr>
          <p:cNvCxnSpPr>
            <a:cxnSpLocks/>
          </p:cNvCxnSpPr>
          <p:nvPr/>
        </p:nvCxnSpPr>
        <p:spPr>
          <a:xfrm>
            <a:off x="8849649" y="3169859"/>
            <a:ext cx="524859" cy="3092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47B8A04C-C786-FA34-04AD-86FB4C0E6F2B}"/>
              </a:ext>
            </a:extLst>
          </p:cNvPr>
          <p:cNvCxnSpPr>
            <a:cxnSpLocks/>
          </p:cNvCxnSpPr>
          <p:nvPr/>
        </p:nvCxnSpPr>
        <p:spPr>
          <a:xfrm flipV="1">
            <a:off x="8843426" y="3859632"/>
            <a:ext cx="531082" cy="3892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AC929437-3FF5-7DD1-AE38-BEF3F39500FE}"/>
              </a:ext>
            </a:extLst>
          </p:cNvPr>
          <p:cNvSpPr/>
          <p:nvPr/>
        </p:nvSpPr>
        <p:spPr>
          <a:xfrm>
            <a:off x="409117" y="3224463"/>
            <a:ext cx="1559205" cy="924343"/>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dirty="0"/>
          </a:p>
        </p:txBody>
      </p:sp>
      <p:sp>
        <p:nvSpPr>
          <p:cNvPr id="26" name="TextBox 25">
            <a:extLst>
              <a:ext uri="{FF2B5EF4-FFF2-40B4-BE49-F238E27FC236}">
                <a16:creationId xmlns:a16="http://schemas.microsoft.com/office/drawing/2014/main" id="{8F2D59D7-7D02-F64D-7D2C-BBC1588D000D}"/>
              </a:ext>
            </a:extLst>
          </p:cNvPr>
          <p:cNvSpPr txBox="1"/>
          <p:nvPr/>
        </p:nvSpPr>
        <p:spPr>
          <a:xfrm>
            <a:off x="397474" y="3324491"/>
            <a:ext cx="1577071" cy="646331"/>
          </a:xfrm>
          <a:prstGeom prst="rect">
            <a:avLst/>
          </a:prstGeom>
          <a:noFill/>
        </p:spPr>
        <p:txBody>
          <a:bodyPr wrap="square" rtlCol="0">
            <a:spAutoFit/>
          </a:bodyPr>
          <a:lstStyle/>
          <a:p>
            <a:r>
              <a:rPr lang="en-US" dirty="0"/>
              <a:t>        </a:t>
            </a:r>
            <a:r>
              <a:rPr lang="en-US" dirty="0">
                <a:solidFill>
                  <a:schemeClr val="tx1">
                    <a:lumMod val="75000"/>
                    <a:lumOff val="25000"/>
                  </a:schemeClr>
                </a:solidFill>
              </a:rPr>
              <a:t>Input</a:t>
            </a:r>
          </a:p>
          <a:p>
            <a:r>
              <a:rPr lang="en-US" dirty="0">
                <a:solidFill>
                  <a:schemeClr val="tx1">
                    <a:lumMod val="75000"/>
                    <a:lumOff val="25000"/>
                  </a:schemeClr>
                </a:solidFill>
              </a:rPr>
              <a:t>(Image/Video)</a:t>
            </a:r>
            <a:endParaRPr lang="en-IN" dirty="0"/>
          </a:p>
        </p:txBody>
      </p:sp>
      <p:sp>
        <p:nvSpPr>
          <p:cNvPr id="27" name="Rectangle 26">
            <a:extLst>
              <a:ext uri="{FF2B5EF4-FFF2-40B4-BE49-F238E27FC236}">
                <a16:creationId xmlns:a16="http://schemas.microsoft.com/office/drawing/2014/main" id="{0D142526-1182-2F7A-85AB-06E0C06768E6}"/>
              </a:ext>
            </a:extLst>
          </p:cNvPr>
          <p:cNvSpPr/>
          <p:nvPr/>
        </p:nvSpPr>
        <p:spPr>
          <a:xfrm>
            <a:off x="2791524" y="3419064"/>
            <a:ext cx="1565445" cy="47383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Preprocessing</a:t>
            </a:r>
            <a:endParaRPr lang="en-IN" dirty="0"/>
          </a:p>
        </p:txBody>
      </p:sp>
      <p:sp>
        <p:nvSpPr>
          <p:cNvPr id="29" name="Rectangle 28">
            <a:extLst>
              <a:ext uri="{FF2B5EF4-FFF2-40B4-BE49-F238E27FC236}">
                <a16:creationId xmlns:a16="http://schemas.microsoft.com/office/drawing/2014/main" id="{EA4BFAFA-A4C7-8944-EA8B-155C589544DD}"/>
              </a:ext>
            </a:extLst>
          </p:cNvPr>
          <p:cNvSpPr/>
          <p:nvPr/>
        </p:nvSpPr>
        <p:spPr>
          <a:xfrm>
            <a:off x="5222529" y="3403907"/>
            <a:ext cx="1403596" cy="47383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Canny Edge</a:t>
            </a:r>
            <a:endParaRPr lang="en-IN" dirty="0"/>
          </a:p>
        </p:txBody>
      </p:sp>
      <p:sp>
        <p:nvSpPr>
          <p:cNvPr id="30" name="Rectangle 29">
            <a:extLst>
              <a:ext uri="{FF2B5EF4-FFF2-40B4-BE49-F238E27FC236}">
                <a16:creationId xmlns:a16="http://schemas.microsoft.com/office/drawing/2014/main" id="{D39902FE-FC5F-7CDA-AA5F-2737E7602DE6}"/>
              </a:ext>
            </a:extLst>
          </p:cNvPr>
          <p:cNvSpPr/>
          <p:nvPr/>
        </p:nvSpPr>
        <p:spPr>
          <a:xfrm>
            <a:off x="7369571" y="4049629"/>
            <a:ext cx="1438214" cy="3984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Shi Tomasi</a:t>
            </a:r>
            <a:endParaRPr lang="en-IN" dirty="0"/>
          </a:p>
        </p:txBody>
      </p:sp>
      <p:sp>
        <p:nvSpPr>
          <p:cNvPr id="31" name="Rectangle 30">
            <a:extLst>
              <a:ext uri="{FF2B5EF4-FFF2-40B4-BE49-F238E27FC236}">
                <a16:creationId xmlns:a16="http://schemas.microsoft.com/office/drawing/2014/main" id="{0053101A-90E4-8C66-D2E3-B6D2A952A139}"/>
              </a:ext>
            </a:extLst>
          </p:cNvPr>
          <p:cNvSpPr/>
          <p:nvPr/>
        </p:nvSpPr>
        <p:spPr>
          <a:xfrm>
            <a:off x="7360294" y="3020653"/>
            <a:ext cx="1438214" cy="3984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Harris Corner</a:t>
            </a:r>
            <a:endParaRPr lang="en-IN" dirty="0"/>
          </a:p>
        </p:txBody>
      </p:sp>
      <p:sp>
        <p:nvSpPr>
          <p:cNvPr id="32" name="Rectangle 31">
            <a:extLst>
              <a:ext uri="{FF2B5EF4-FFF2-40B4-BE49-F238E27FC236}">
                <a16:creationId xmlns:a16="http://schemas.microsoft.com/office/drawing/2014/main" id="{D599C3D4-8262-EB38-C90C-022C88F3F147}"/>
              </a:ext>
            </a:extLst>
          </p:cNvPr>
          <p:cNvSpPr/>
          <p:nvPr/>
        </p:nvSpPr>
        <p:spPr>
          <a:xfrm>
            <a:off x="9809879" y="3250773"/>
            <a:ext cx="1270535" cy="82977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Detected</a:t>
            </a:r>
          </a:p>
          <a:p>
            <a:pPr algn="ctr"/>
            <a:r>
              <a:rPr lang="en-US" dirty="0"/>
              <a:t>Output</a:t>
            </a:r>
            <a:endParaRPr lang="en-IN" dirty="0"/>
          </a:p>
        </p:txBody>
      </p:sp>
      <p:sp>
        <p:nvSpPr>
          <p:cNvPr id="33" name="TextBox 32">
            <a:extLst>
              <a:ext uri="{FF2B5EF4-FFF2-40B4-BE49-F238E27FC236}">
                <a16:creationId xmlns:a16="http://schemas.microsoft.com/office/drawing/2014/main" id="{91C033E3-A5C3-EF32-4DCA-1D66DCE26D90}"/>
              </a:ext>
            </a:extLst>
          </p:cNvPr>
          <p:cNvSpPr txBox="1"/>
          <p:nvPr/>
        </p:nvSpPr>
        <p:spPr>
          <a:xfrm>
            <a:off x="5235796" y="5045014"/>
            <a:ext cx="1720407" cy="369332"/>
          </a:xfrm>
          <a:prstGeom prst="rect">
            <a:avLst/>
          </a:prstGeom>
          <a:noFill/>
        </p:spPr>
        <p:txBody>
          <a:bodyPr wrap="none" rtlCol="0">
            <a:spAutoFit/>
          </a:bodyPr>
          <a:lstStyle/>
          <a:p>
            <a:r>
              <a:rPr lang="en-US" dirty="0"/>
              <a:t>Fig 3 : Flowchart</a:t>
            </a:r>
            <a:endParaRPr lang="en-IN" dirty="0"/>
          </a:p>
        </p:txBody>
      </p:sp>
    </p:spTree>
    <p:extLst>
      <p:ext uri="{BB962C8B-B14F-4D97-AF65-F5344CB8AC3E}">
        <p14:creationId xmlns:p14="http://schemas.microsoft.com/office/powerpoint/2010/main" val="3967428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60CFE-AE6A-8447-9354-AF8EAB4A7D04}"/>
              </a:ext>
            </a:extLst>
          </p:cNvPr>
          <p:cNvSpPr>
            <a:spLocks noGrp="1"/>
          </p:cNvSpPr>
          <p:nvPr>
            <p:ph type="title"/>
          </p:nvPr>
        </p:nvSpPr>
        <p:spPr/>
        <p:txBody>
          <a:bodyPr/>
          <a:lstStyle/>
          <a:p>
            <a:r>
              <a:rPr lang="en-IN" b="1" dirty="0">
                <a:solidFill>
                  <a:schemeClr val="accent1">
                    <a:lumMod val="50000"/>
                  </a:schemeClr>
                </a:solidFill>
              </a:rPr>
              <a:t>Methods Used</a:t>
            </a:r>
          </a:p>
        </p:txBody>
      </p:sp>
      <p:sp>
        <p:nvSpPr>
          <p:cNvPr id="3" name="Content Placeholder 2">
            <a:extLst>
              <a:ext uri="{FF2B5EF4-FFF2-40B4-BE49-F238E27FC236}">
                <a16:creationId xmlns:a16="http://schemas.microsoft.com/office/drawing/2014/main" id="{E7B7DDF0-83B1-B859-5526-CFF686D181A1}"/>
              </a:ext>
            </a:extLst>
          </p:cNvPr>
          <p:cNvSpPr>
            <a:spLocks noGrp="1"/>
          </p:cNvSpPr>
          <p:nvPr>
            <p:ph idx="1"/>
          </p:nvPr>
        </p:nvSpPr>
        <p:spPr>
          <a:xfrm>
            <a:off x="838200" y="1690688"/>
            <a:ext cx="10515600" cy="4486275"/>
          </a:xfrm>
        </p:spPr>
        <p:txBody>
          <a:bodyPr>
            <a:normAutofit fontScale="25000" lnSpcReduction="20000"/>
          </a:bodyPr>
          <a:lstStyle/>
          <a:p>
            <a:pPr lvl="0" eaLnBrk="0" fontAlgn="base" hangingPunct="0">
              <a:lnSpc>
                <a:spcPct val="100000"/>
              </a:lnSpc>
              <a:spcBef>
                <a:spcPct val="0"/>
              </a:spcBef>
              <a:spcAft>
                <a:spcPct val="0"/>
              </a:spcAft>
            </a:pPr>
            <a:r>
              <a:rPr lang="en-US" altLang="en-US" sz="8800" dirty="0">
                <a:solidFill>
                  <a:schemeClr val="tx1">
                    <a:lumMod val="75000"/>
                    <a:lumOff val="25000"/>
                  </a:schemeClr>
                </a:solidFill>
                <a:latin typeface="Arial" panose="020B0604020202020204" pitchFamily="34" charset="0"/>
              </a:rPr>
              <a:t>We use three main techniques to analyze the image and extract meaningful features.</a:t>
            </a:r>
          </a:p>
          <a:p>
            <a:pPr lvl="0" eaLnBrk="0" fontAlgn="base" hangingPunct="0">
              <a:lnSpc>
                <a:spcPct val="100000"/>
              </a:lnSpc>
              <a:spcBef>
                <a:spcPct val="0"/>
              </a:spcBef>
              <a:spcAft>
                <a:spcPct val="0"/>
              </a:spcAft>
            </a:pPr>
            <a:endParaRPr lang="en-US" altLang="en-US" sz="8800" dirty="0">
              <a:solidFill>
                <a:schemeClr val="tx1">
                  <a:lumMod val="75000"/>
                  <a:lumOff val="25000"/>
                </a:schemeClr>
              </a:solidFill>
              <a:latin typeface="Arial" panose="020B0604020202020204" pitchFamily="34" charset="0"/>
            </a:endParaRPr>
          </a:p>
          <a:p>
            <a:pPr lvl="1" eaLnBrk="0" fontAlgn="base" hangingPunct="0">
              <a:lnSpc>
                <a:spcPct val="100000"/>
              </a:lnSpc>
              <a:spcBef>
                <a:spcPct val="0"/>
              </a:spcBef>
              <a:spcAft>
                <a:spcPct val="0"/>
              </a:spcAft>
            </a:pPr>
            <a:r>
              <a:rPr lang="en-US" altLang="en-US" sz="8800" b="1" dirty="0">
                <a:solidFill>
                  <a:schemeClr val="tx1">
                    <a:lumMod val="75000"/>
                    <a:lumOff val="25000"/>
                  </a:schemeClr>
                </a:solidFill>
                <a:latin typeface="Arial" panose="020B0604020202020204" pitchFamily="34" charset="0"/>
              </a:rPr>
              <a:t> </a:t>
            </a:r>
            <a:r>
              <a:rPr lang="en-US" altLang="en-US" sz="8000" b="1" dirty="0">
                <a:solidFill>
                  <a:schemeClr val="tx1">
                    <a:lumMod val="75000"/>
                    <a:lumOff val="25000"/>
                  </a:schemeClr>
                </a:solidFill>
                <a:latin typeface="Arial" panose="020B0604020202020204" pitchFamily="34" charset="0"/>
              </a:rPr>
              <a:t>Canny Edge Detection:</a:t>
            </a:r>
            <a:r>
              <a:rPr lang="en-US" sz="8000" dirty="0"/>
              <a:t> Detects object boundaries by identifying sharp intensity changes, but may also capture edges from background objects in cluttered scenes.</a:t>
            </a:r>
          </a:p>
          <a:p>
            <a:pPr lvl="1" eaLnBrk="0" fontAlgn="base" hangingPunct="0">
              <a:lnSpc>
                <a:spcPct val="100000"/>
              </a:lnSpc>
              <a:spcBef>
                <a:spcPct val="0"/>
              </a:spcBef>
              <a:spcAft>
                <a:spcPct val="0"/>
              </a:spcAft>
            </a:pPr>
            <a:endParaRPr lang="en-US" altLang="en-US" sz="8000" dirty="0">
              <a:solidFill>
                <a:schemeClr val="tx1">
                  <a:lumMod val="75000"/>
                  <a:lumOff val="25000"/>
                </a:schemeClr>
              </a:solidFill>
              <a:latin typeface="Arial" panose="020B0604020202020204" pitchFamily="34" charset="0"/>
            </a:endParaRPr>
          </a:p>
          <a:p>
            <a:pPr lvl="1" eaLnBrk="0" fontAlgn="base" hangingPunct="0">
              <a:lnSpc>
                <a:spcPct val="100000"/>
              </a:lnSpc>
              <a:spcBef>
                <a:spcPct val="0"/>
              </a:spcBef>
              <a:spcAft>
                <a:spcPct val="0"/>
              </a:spcAft>
            </a:pPr>
            <a:r>
              <a:rPr lang="en-US" altLang="en-US" sz="8000" b="1" dirty="0">
                <a:solidFill>
                  <a:schemeClr val="tx1">
                    <a:lumMod val="75000"/>
                    <a:lumOff val="25000"/>
                  </a:schemeClr>
                </a:solidFill>
                <a:latin typeface="Arial" panose="020B0604020202020204" pitchFamily="34" charset="0"/>
              </a:rPr>
              <a:t> Harris Corner Detection:</a:t>
            </a:r>
            <a:r>
              <a:rPr lang="en-US" sz="8000" dirty="0"/>
              <a:t> Detects corner-like points by finding regions with intensity changes in multiple directions, often producing many points including noise.</a:t>
            </a:r>
          </a:p>
          <a:p>
            <a:pPr lvl="1" eaLnBrk="0" fontAlgn="base" hangingPunct="0">
              <a:lnSpc>
                <a:spcPct val="100000"/>
              </a:lnSpc>
              <a:spcBef>
                <a:spcPct val="0"/>
              </a:spcBef>
              <a:spcAft>
                <a:spcPct val="0"/>
              </a:spcAft>
            </a:pPr>
            <a:endParaRPr lang="en-US" altLang="en-US" sz="8000" dirty="0">
              <a:solidFill>
                <a:schemeClr val="tx1">
                  <a:lumMod val="75000"/>
                  <a:lumOff val="25000"/>
                </a:schemeClr>
              </a:solidFill>
              <a:latin typeface="Arial" panose="020B0604020202020204" pitchFamily="34" charset="0"/>
            </a:endParaRPr>
          </a:p>
          <a:p>
            <a:pPr lvl="1" eaLnBrk="0" fontAlgn="base" hangingPunct="0">
              <a:lnSpc>
                <a:spcPct val="100000"/>
              </a:lnSpc>
              <a:spcBef>
                <a:spcPct val="0"/>
              </a:spcBef>
              <a:spcAft>
                <a:spcPct val="0"/>
              </a:spcAft>
            </a:pPr>
            <a:r>
              <a:rPr lang="en-US" altLang="en-US" sz="8000" b="1" dirty="0">
                <a:solidFill>
                  <a:schemeClr val="tx1">
                    <a:lumMod val="75000"/>
                    <a:lumOff val="25000"/>
                  </a:schemeClr>
                </a:solidFill>
                <a:latin typeface="Arial" panose="020B0604020202020204" pitchFamily="34" charset="0"/>
              </a:rPr>
              <a:t> Shi-Tomasi Detection: </a:t>
            </a:r>
            <a:r>
              <a:rPr lang="en-US" sz="8000" dirty="0"/>
              <a:t>Selects the strongest and most reliable corner points, resulting in cleaner and more stable detections.</a:t>
            </a:r>
            <a:endParaRPr lang="en-US" altLang="en-US" sz="8000" dirty="0">
              <a:solidFill>
                <a:schemeClr val="tx1">
                  <a:lumMod val="75000"/>
                  <a:lumOff val="25000"/>
                </a:schemeClr>
              </a:solidFill>
              <a:latin typeface="Arial" panose="020B0604020202020204" pitchFamily="34" charset="0"/>
            </a:endParaRPr>
          </a:p>
          <a:p>
            <a:pPr lvl="1" eaLnBrk="0" fontAlgn="base" hangingPunct="0">
              <a:lnSpc>
                <a:spcPct val="100000"/>
              </a:lnSpc>
              <a:spcBef>
                <a:spcPct val="0"/>
              </a:spcBef>
              <a:spcAft>
                <a:spcPct val="0"/>
              </a:spcAft>
            </a:pPr>
            <a:endParaRPr lang="en-US" altLang="en-US" sz="8800" dirty="0">
              <a:solidFill>
                <a:schemeClr val="tx1">
                  <a:lumMod val="75000"/>
                  <a:lumOff val="25000"/>
                </a:schemeClr>
              </a:solidFill>
              <a:latin typeface="Arial" panose="020B0604020202020204" pitchFamily="34" charset="0"/>
            </a:endParaRPr>
          </a:p>
          <a:p>
            <a:pPr lvl="1" eaLnBrk="0" fontAlgn="base" hangingPunct="0">
              <a:lnSpc>
                <a:spcPct val="100000"/>
              </a:lnSpc>
              <a:spcBef>
                <a:spcPct val="0"/>
              </a:spcBef>
              <a:spcAft>
                <a:spcPct val="0"/>
              </a:spcAft>
            </a:pPr>
            <a:endParaRPr lang="en-US" altLang="en-US" sz="8800" dirty="0">
              <a:solidFill>
                <a:schemeClr val="tx1">
                  <a:lumMod val="75000"/>
                  <a:lumOff val="25000"/>
                </a:schemeClr>
              </a:solidFill>
              <a:latin typeface="Arial" panose="020B0604020202020204" pitchFamily="34" charset="0"/>
            </a:endParaRPr>
          </a:p>
          <a:p>
            <a:pPr lvl="0" eaLnBrk="0" fontAlgn="base" hangingPunct="0">
              <a:lnSpc>
                <a:spcPct val="100000"/>
              </a:lnSpc>
              <a:spcBef>
                <a:spcPct val="0"/>
              </a:spcBef>
              <a:spcAft>
                <a:spcPct val="0"/>
              </a:spcAft>
            </a:pPr>
            <a:r>
              <a:rPr lang="en-US" altLang="en-US" sz="8800" dirty="0">
                <a:solidFill>
                  <a:schemeClr val="tx1">
                    <a:lumMod val="75000"/>
                    <a:lumOff val="25000"/>
                  </a:schemeClr>
                </a:solidFill>
                <a:latin typeface="Arial" panose="020B0604020202020204" pitchFamily="34" charset="0"/>
              </a:rPr>
              <a:t>Each of these methods highlights different aspects of the image, allowing us to better understand and compare how features are detected in real-world conditions.</a:t>
            </a:r>
          </a:p>
          <a:p>
            <a:pPr marL="0" lvl="0" indent="0" eaLnBrk="0" fontAlgn="base" hangingPunct="0">
              <a:lnSpc>
                <a:spcPct val="100000"/>
              </a:lnSpc>
              <a:spcBef>
                <a:spcPct val="0"/>
              </a:spcBef>
              <a:spcAft>
                <a:spcPct val="0"/>
              </a:spcAft>
              <a:buNone/>
            </a:pPr>
            <a:br>
              <a:rPr lang="en-US" altLang="en-US" sz="8000" dirty="0">
                <a:latin typeface="Arial" panose="020B0604020202020204" pitchFamily="34" charset="0"/>
              </a:rPr>
            </a:br>
            <a:endParaRPr lang="en-US" altLang="en-US" sz="8000" dirty="0">
              <a:latin typeface="Arial" panose="020B0604020202020204" pitchFamily="34" charset="0"/>
            </a:endParaRPr>
          </a:p>
          <a:p>
            <a:endParaRPr lang="en-IN" dirty="0"/>
          </a:p>
        </p:txBody>
      </p:sp>
    </p:spTree>
    <p:extLst>
      <p:ext uri="{BB962C8B-B14F-4D97-AF65-F5344CB8AC3E}">
        <p14:creationId xmlns:p14="http://schemas.microsoft.com/office/powerpoint/2010/main" val="3764776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556AB-E0A7-7E7B-792E-68F21F536DA6}"/>
              </a:ext>
            </a:extLst>
          </p:cNvPr>
          <p:cNvSpPr>
            <a:spLocks noGrp="1"/>
          </p:cNvSpPr>
          <p:nvPr>
            <p:ph type="title"/>
          </p:nvPr>
        </p:nvSpPr>
        <p:spPr/>
        <p:txBody>
          <a:bodyPr/>
          <a:lstStyle/>
          <a:p>
            <a:r>
              <a:rPr lang="en-IN" b="1" dirty="0">
                <a:solidFill>
                  <a:schemeClr val="accent1">
                    <a:lumMod val="50000"/>
                  </a:schemeClr>
                </a:solidFill>
              </a:rPr>
              <a:t>Output Visualization</a:t>
            </a:r>
          </a:p>
        </p:txBody>
      </p:sp>
      <p:pic>
        <p:nvPicPr>
          <p:cNvPr id="5" name="Content Placeholder 4">
            <a:extLst>
              <a:ext uri="{FF2B5EF4-FFF2-40B4-BE49-F238E27FC236}">
                <a16:creationId xmlns:a16="http://schemas.microsoft.com/office/drawing/2014/main" id="{6BB2F902-C458-86E0-6FC0-568E76CC21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96255" y="1690687"/>
            <a:ext cx="4713166" cy="2378815"/>
          </a:xfrm>
          <a:prstGeom prst="rect">
            <a:avLst/>
          </a:prstGeom>
        </p:spPr>
      </p:pic>
      <p:pic>
        <p:nvPicPr>
          <p:cNvPr id="7" name="Picture 6">
            <a:extLst>
              <a:ext uri="{FF2B5EF4-FFF2-40B4-BE49-F238E27FC236}">
                <a16:creationId xmlns:a16="http://schemas.microsoft.com/office/drawing/2014/main" id="{4E6EF58B-9C97-DF85-6B6A-5D84A2FD0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496" y="1690687"/>
            <a:ext cx="4765040" cy="2378815"/>
          </a:xfrm>
          <a:prstGeom prst="rect">
            <a:avLst/>
          </a:prstGeom>
        </p:spPr>
      </p:pic>
      <p:sp>
        <p:nvSpPr>
          <p:cNvPr id="8" name="TextBox 7">
            <a:extLst>
              <a:ext uri="{FF2B5EF4-FFF2-40B4-BE49-F238E27FC236}">
                <a16:creationId xmlns:a16="http://schemas.microsoft.com/office/drawing/2014/main" id="{0F8B53E9-F5C1-FDC0-5AA6-6B6D6001F0B2}"/>
              </a:ext>
            </a:extLst>
          </p:cNvPr>
          <p:cNvSpPr txBox="1"/>
          <p:nvPr/>
        </p:nvSpPr>
        <p:spPr>
          <a:xfrm>
            <a:off x="972242" y="4908883"/>
            <a:ext cx="10515601" cy="1107996"/>
          </a:xfrm>
          <a:prstGeom prst="rect">
            <a:avLst/>
          </a:prstGeom>
          <a:noFill/>
        </p:spPr>
        <p:txBody>
          <a:bodyPr wrap="square" rtlCol="0">
            <a:spAutoFit/>
          </a:bodyPr>
          <a:lstStyle/>
          <a:p>
            <a:pPr algn="just"/>
            <a:r>
              <a:rPr lang="en-US" sz="2200" dirty="0">
                <a:solidFill>
                  <a:schemeClr val="tx1">
                    <a:lumMod val="75000"/>
                    <a:lumOff val="25000"/>
                  </a:schemeClr>
                </a:solidFill>
              </a:rPr>
              <a:t>The results show that in clean background scenes, the edges and corners of the playing cards are clearly detected, with minimal interference from surrounding areas. In cluttered scenes, however, the detectors respond to both the cards and nearby objects.</a:t>
            </a:r>
            <a:endParaRPr lang="en-IN" sz="2200" dirty="0">
              <a:solidFill>
                <a:schemeClr val="tx1">
                  <a:lumMod val="75000"/>
                  <a:lumOff val="25000"/>
                </a:schemeClr>
              </a:solidFill>
            </a:endParaRPr>
          </a:p>
        </p:txBody>
      </p:sp>
      <p:sp>
        <p:nvSpPr>
          <p:cNvPr id="9" name="TextBox 8">
            <a:extLst>
              <a:ext uri="{FF2B5EF4-FFF2-40B4-BE49-F238E27FC236}">
                <a16:creationId xmlns:a16="http://schemas.microsoft.com/office/drawing/2014/main" id="{E1C5452A-4AF9-0BC8-0BDD-6EDAB9A06F43}"/>
              </a:ext>
            </a:extLst>
          </p:cNvPr>
          <p:cNvSpPr txBox="1"/>
          <p:nvPr/>
        </p:nvSpPr>
        <p:spPr>
          <a:xfrm>
            <a:off x="970553" y="4069502"/>
            <a:ext cx="5114926" cy="369332"/>
          </a:xfrm>
          <a:prstGeom prst="rect">
            <a:avLst/>
          </a:prstGeom>
          <a:noFill/>
        </p:spPr>
        <p:txBody>
          <a:bodyPr wrap="none" rtlCol="0">
            <a:spAutoFit/>
          </a:bodyPr>
          <a:lstStyle/>
          <a:p>
            <a:r>
              <a:rPr lang="en-US" dirty="0"/>
              <a:t>Fig 4 : Baseline output for a clean background scene.</a:t>
            </a:r>
            <a:endParaRPr lang="en-IN" dirty="0"/>
          </a:p>
        </p:txBody>
      </p:sp>
      <p:sp>
        <p:nvSpPr>
          <p:cNvPr id="10" name="TextBox 9">
            <a:extLst>
              <a:ext uri="{FF2B5EF4-FFF2-40B4-BE49-F238E27FC236}">
                <a16:creationId xmlns:a16="http://schemas.microsoft.com/office/drawing/2014/main" id="{C1A5243F-9737-300A-96D9-1E3B7F4A788E}"/>
              </a:ext>
            </a:extLst>
          </p:cNvPr>
          <p:cNvSpPr txBox="1"/>
          <p:nvPr/>
        </p:nvSpPr>
        <p:spPr>
          <a:xfrm>
            <a:off x="6739748" y="4069502"/>
            <a:ext cx="4306756" cy="369332"/>
          </a:xfrm>
          <a:prstGeom prst="rect">
            <a:avLst/>
          </a:prstGeom>
          <a:noFill/>
        </p:spPr>
        <p:txBody>
          <a:bodyPr wrap="none" rtlCol="0">
            <a:spAutoFit/>
          </a:bodyPr>
          <a:lstStyle/>
          <a:p>
            <a:r>
              <a:rPr lang="en-US" dirty="0"/>
              <a:t>Fig 5 : </a:t>
            </a:r>
            <a:r>
              <a:rPr lang="en-IN" dirty="0"/>
              <a:t>Baseline output for a cluttered scene.</a:t>
            </a:r>
          </a:p>
        </p:txBody>
      </p:sp>
    </p:spTree>
    <p:extLst>
      <p:ext uri="{BB962C8B-B14F-4D97-AF65-F5344CB8AC3E}">
        <p14:creationId xmlns:p14="http://schemas.microsoft.com/office/powerpoint/2010/main" val="1175828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185B4-2E92-1AFE-B898-D9A404266065}"/>
              </a:ext>
            </a:extLst>
          </p:cNvPr>
          <p:cNvSpPr>
            <a:spLocks noGrp="1"/>
          </p:cNvSpPr>
          <p:nvPr>
            <p:ph type="title"/>
          </p:nvPr>
        </p:nvSpPr>
        <p:spPr/>
        <p:txBody>
          <a:bodyPr/>
          <a:lstStyle/>
          <a:p>
            <a:r>
              <a:rPr lang="en-IN" b="1" dirty="0">
                <a:solidFill>
                  <a:schemeClr val="accent1">
                    <a:lumMod val="50000"/>
                  </a:schemeClr>
                </a:solidFill>
              </a:rPr>
              <a:t>Key Observations</a:t>
            </a:r>
          </a:p>
        </p:txBody>
      </p:sp>
      <p:sp>
        <p:nvSpPr>
          <p:cNvPr id="3" name="Content Placeholder 2">
            <a:extLst>
              <a:ext uri="{FF2B5EF4-FFF2-40B4-BE49-F238E27FC236}">
                <a16:creationId xmlns:a16="http://schemas.microsoft.com/office/drawing/2014/main" id="{A1FF36E5-826A-5F05-2A95-9A21E1938E41}"/>
              </a:ext>
            </a:extLst>
          </p:cNvPr>
          <p:cNvSpPr>
            <a:spLocks noGrp="1"/>
          </p:cNvSpPr>
          <p:nvPr>
            <p:ph idx="1"/>
          </p:nvPr>
        </p:nvSpPr>
        <p:spPr>
          <a:xfrm>
            <a:off x="838200" y="1825625"/>
            <a:ext cx="4936958" cy="4351338"/>
          </a:xfrm>
        </p:spPr>
        <p:txBody>
          <a:bodyPr/>
          <a:lstStyle/>
          <a:p>
            <a:r>
              <a:rPr lang="en-US" dirty="0">
                <a:solidFill>
                  <a:schemeClr val="tx1">
                    <a:lumMod val="75000"/>
                    <a:lumOff val="25000"/>
                  </a:schemeClr>
                </a:solidFill>
              </a:rPr>
              <a:t>In simple scenes:</a:t>
            </a:r>
          </a:p>
          <a:p>
            <a:pPr lvl="1"/>
            <a:r>
              <a:rPr lang="en-US" dirty="0">
                <a:solidFill>
                  <a:schemeClr val="tx1">
                    <a:lumMod val="75000"/>
                    <a:lumOff val="25000"/>
                  </a:schemeClr>
                </a:solidFill>
              </a:rPr>
              <a:t>Card edges are clearly detected </a:t>
            </a:r>
          </a:p>
          <a:p>
            <a:pPr lvl="1"/>
            <a:r>
              <a:rPr lang="en-US" dirty="0">
                <a:solidFill>
                  <a:schemeClr val="tx1">
                    <a:lumMod val="75000"/>
                    <a:lumOff val="25000"/>
                  </a:schemeClr>
                </a:solidFill>
              </a:rPr>
              <a:t>Corner detection is accurate</a:t>
            </a:r>
          </a:p>
          <a:p>
            <a:pPr marL="342900" indent="-342900"/>
            <a:r>
              <a:rPr lang="en-US" dirty="0">
                <a:solidFill>
                  <a:schemeClr val="tx1">
                    <a:lumMod val="75000"/>
                    <a:lumOff val="25000"/>
                  </a:schemeClr>
                </a:solidFill>
              </a:rPr>
              <a:t>In cluttered scenes:</a:t>
            </a:r>
          </a:p>
          <a:p>
            <a:pPr marL="800100" lvl="1" indent="-342900"/>
            <a:r>
              <a:rPr lang="en-US" dirty="0">
                <a:solidFill>
                  <a:schemeClr val="tx1">
                    <a:lumMod val="75000"/>
                    <a:lumOff val="25000"/>
                  </a:schemeClr>
                </a:solidFill>
              </a:rPr>
              <a:t>Many unwanted edges appear </a:t>
            </a:r>
          </a:p>
          <a:p>
            <a:pPr marL="800100" lvl="1" indent="-342900"/>
            <a:r>
              <a:rPr lang="en-US" dirty="0">
                <a:solidFill>
                  <a:schemeClr val="tx1">
                    <a:lumMod val="75000"/>
                    <a:lumOff val="25000"/>
                  </a:schemeClr>
                </a:solidFill>
              </a:rPr>
              <a:t>Corner points spread across 	the image </a:t>
            </a:r>
          </a:p>
          <a:p>
            <a:pPr marL="800100" lvl="1" indent="-342900"/>
            <a:r>
              <a:rPr lang="en-US" dirty="0">
                <a:solidFill>
                  <a:schemeClr val="tx1">
                    <a:lumMod val="75000"/>
                    <a:lumOff val="25000"/>
                  </a:schemeClr>
                </a:solidFill>
              </a:rPr>
              <a:t>Detection becomes harder to interpret </a:t>
            </a:r>
          </a:p>
          <a:p>
            <a:pPr marL="457200" lvl="1" indent="0">
              <a:buNone/>
            </a:pPr>
            <a:r>
              <a:rPr lang="en-US" dirty="0">
                <a:solidFill>
                  <a:schemeClr val="tx1">
                    <a:lumMod val="75000"/>
                    <a:lumOff val="25000"/>
                  </a:schemeClr>
                </a:solidFill>
              </a:rPr>
              <a:t> </a:t>
            </a:r>
          </a:p>
          <a:p>
            <a:pPr marL="457200" lvl="1" indent="0">
              <a:buNone/>
            </a:pPr>
            <a:endParaRPr lang="en-US" dirty="0">
              <a:solidFill>
                <a:schemeClr val="tx1">
                  <a:lumMod val="75000"/>
                  <a:lumOff val="25000"/>
                </a:schemeClr>
              </a:solidFill>
            </a:endParaRPr>
          </a:p>
          <a:p>
            <a:pPr marL="0" indent="0">
              <a:buNone/>
            </a:pPr>
            <a:endParaRPr lang="en-IN" dirty="0"/>
          </a:p>
        </p:txBody>
      </p:sp>
      <p:pic>
        <p:nvPicPr>
          <p:cNvPr id="6" name="Picture 5">
            <a:extLst>
              <a:ext uri="{FF2B5EF4-FFF2-40B4-BE49-F238E27FC236}">
                <a16:creationId xmlns:a16="http://schemas.microsoft.com/office/drawing/2014/main" id="{5B0BB77A-D952-1DCE-0AA8-096D19BCF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310" y="1350260"/>
            <a:ext cx="3289141" cy="1526417"/>
          </a:xfrm>
          <a:prstGeom prst="rect">
            <a:avLst/>
          </a:prstGeom>
        </p:spPr>
      </p:pic>
      <p:pic>
        <p:nvPicPr>
          <p:cNvPr id="8" name="Picture 7">
            <a:extLst>
              <a:ext uri="{FF2B5EF4-FFF2-40B4-BE49-F238E27FC236}">
                <a16:creationId xmlns:a16="http://schemas.microsoft.com/office/drawing/2014/main" id="{AFCFB343-9EAB-CBE6-D1F7-371DAA701D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4310" y="3861812"/>
            <a:ext cx="3289141" cy="1526417"/>
          </a:xfrm>
          <a:prstGeom prst="rect">
            <a:avLst/>
          </a:prstGeom>
        </p:spPr>
      </p:pic>
      <p:sp>
        <p:nvSpPr>
          <p:cNvPr id="9" name="TextBox 8">
            <a:extLst>
              <a:ext uri="{FF2B5EF4-FFF2-40B4-BE49-F238E27FC236}">
                <a16:creationId xmlns:a16="http://schemas.microsoft.com/office/drawing/2014/main" id="{758AA0DB-E964-A4DA-1828-8C266CD4C724}"/>
              </a:ext>
            </a:extLst>
          </p:cNvPr>
          <p:cNvSpPr txBox="1"/>
          <p:nvPr/>
        </p:nvSpPr>
        <p:spPr>
          <a:xfrm>
            <a:off x="8162222" y="2815246"/>
            <a:ext cx="2032929" cy="369332"/>
          </a:xfrm>
          <a:prstGeom prst="rect">
            <a:avLst/>
          </a:prstGeom>
          <a:noFill/>
        </p:spPr>
        <p:txBody>
          <a:bodyPr wrap="none" rtlCol="0">
            <a:spAutoFit/>
          </a:bodyPr>
          <a:lstStyle/>
          <a:p>
            <a:r>
              <a:rPr lang="en-US" dirty="0"/>
              <a:t>Fig 6 : Simple Scene</a:t>
            </a:r>
          </a:p>
        </p:txBody>
      </p:sp>
      <p:sp>
        <p:nvSpPr>
          <p:cNvPr id="10" name="TextBox 9">
            <a:extLst>
              <a:ext uri="{FF2B5EF4-FFF2-40B4-BE49-F238E27FC236}">
                <a16:creationId xmlns:a16="http://schemas.microsoft.com/office/drawing/2014/main" id="{FA9A1F72-59E4-B5C4-D2A6-D4F808981421}"/>
              </a:ext>
            </a:extLst>
          </p:cNvPr>
          <p:cNvSpPr txBox="1"/>
          <p:nvPr/>
        </p:nvSpPr>
        <p:spPr>
          <a:xfrm>
            <a:off x="8162222" y="5323074"/>
            <a:ext cx="2275816" cy="369332"/>
          </a:xfrm>
          <a:prstGeom prst="rect">
            <a:avLst/>
          </a:prstGeom>
          <a:noFill/>
        </p:spPr>
        <p:txBody>
          <a:bodyPr wrap="none" rtlCol="0">
            <a:spAutoFit/>
          </a:bodyPr>
          <a:lstStyle/>
          <a:p>
            <a:r>
              <a:rPr lang="en-US" dirty="0"/>
              <a:t>Fig 7 : Cluttered Scene</a:t>
            </a:r>
          </a:p>
        </p:txBody>
      </p:sp>
    </p:spTree>
    <p:extLst>
      <p:ext uri="{BB962C8B-B14F-4D97-AF65-F5344CB8AC3E}">
        <p14:creationId xmlns:p14="http://schemas.microsoft.com/office/powerpoint/2010/main" val="61504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D6C1C-8370-4A80-EBB8-7B5300CEDA97}"/>
              </a:ext>
            </a:extLst>
          </p:cNvPr>
          <p:cNvSpPr>
            <a:spLocks noGrp="1"/>
          </p:cNvSpPr>
          <p:nvPr>
            <p:ph type="title"/>
          </p:nvPr>
        </p:nvSpPr>
        <p:spPr/>
        <p:txBody>
          <a:bodyPr/>
          <a:lstStyle/>
          <a:p>
            <a:r>
              <a:rPr lang="en-IN" b="1" dirty="0">
                <a:solidFill>
                  <a:schemeClr val="accent1">
                    <a:lumMod val="50000"/>
                  </a:schemeClr>
                </a:solidFill>
              </a:rPr>
              <a:t>Effect of Parameter Tuning</a:t>
            </a:r>
          </a:p>
        </p:txBody>
      </p:sp>
      <p:sp>
        <p:nvSpPr>
          <p:cNvPr id="3" name="Content Placeholder 2">
            <a:extLst>
              <a:ext uri="{FF2B5EF4-FFF2-40B4-BE49-F238E27FC236}">
                <a16:creationId xmlns:a16="http://schemas.microsoft.com/office/drawing/2014/main" id="{5CAFAC15-E4DC-576E-444B-B041DAAB3451}"/>
              </a:ext>
            </a:extLst>
          </p:cNvPr>
          <p:cNvSpPr>
            <a:spLocks noGrp="1"/>
          </p:cNvSpPr>
          <p:nvPr>
            <p:ph idx="1"/>
          </p:nvPr>
        </p:nvSpPr>
        <p:spPr>
          <a:xfrm>
            <a:off x="838200" y="1690689"/>
            <a:ext cx="10515600" cy="2015038"/>
          </a:xfrm>
        </p:spPr>
        <p:txBody>
          <a:bodyPr>
            <a:normAutofit/>
          </a:bodyPr>
          <a:lstStyle/>
          <a:p>
            <a:pPr marL="0" indent="0">
              <a:buNone/>
            </a:pPr>
            <a:r>
              <a:rPr lang="en-US" sz="2400" dirty="0">
                <a:solidFill>
                  <a:schemeClr val="tx1">
                    <a:lumMod val="75000"/>
                    <a:lumOff val="25000"/>
                  </a:schemeClr>
                </a:solidFill>
              </a:rPr>
              <a:t>We tested different settings such as blur and threshold values.</a:t>
            </a:r>
          </a:p>
          <a:p>
            <a:pPr lvl="1"/>
            <a:r>
              <a:rPr lang="en-US" sz="2200" dirty="0">
                <a:solidFill>
                  <a:schemeClr val="tx1">
                    <a:lumMod val="75000"/>
                    <a:lumOff val="25000"/>
                  </a:schemeClr>
                </a:solidFill>
              </a:rPr>
              <a:t>Lower thresholds detect more edges but increase noise </a:t>
            </a:r>
          </a:p>
          <a:p>
            <a:pPr lvl="1"/>
            <a:r>
              <a:rPr lang="en-US" sz="2200" dirty="0">
                <a:solidFill>
                  <a:schemeClr val="tx1">
                    <a:lumMod val="75000"/>
                    <a:lumOff val="25000"/>
                  </a:schemeClr>
                </a:solidFill>
              </a:rPr>
              <a:t>Higher thresholds reduce noise but may miss important edges </a:t>
            </a:r>
          </a:p>
          <a:p>
            <a:pPr lvl="1"/>
            <a:r>
              <a:rPr lang="en-US" sz="2200" dirty="0">
                <a:solidFill>
                  <a:schemeClr val="tx1">
                    <a:lumMod val="75000"/>
                    <a:lumOff val="25000"/>
                  </a:schemeClr>
                </a:solidFill>
              </a:rPr>
              <a:t>Moderate settings give the best balance </a:t>
            </a:r>
          </a:p>
          <a:p>
            <a:pPr marL="0" indent="0">
              <a:buNone/>
            </a:pPr>
            <a:r>
              <a:rPr lang="en-US" sz="2400" dirty="0">
                <a:solidFill>
                  <a:schemeClr val="tx1">
                    <a:lumMod val="75000"/>
                    <a:lumOff val="25000"/>
                  </a:schemeClr>
                </a:solidFill>
              </a:rPr>
              <a:t>However, these adjustments do not completely remove background interference.</a:t>
            </a:r>
          </a:p>
          <a:p>
            <a:pPr marL="0" indent="0">
              <a:buNone/>
            </a:pPr>
            <a:endParaRPr lang="en-IN" dirty="0"/>
          </a:p>
        </p:txBody>
      </p:sp>
      <p:pic>
        <p:nvPicPr>
          <p:cNvPr id="7" name="Picture 6">
            <a:extLst>
              <a:ext uri="{FF2B5EF4-FFF2-40B4-BE49-F238E27FC236}">
                <a16:creationId xmlns:a16="http://schemas.microsoft.com/office/drawing/2014/main" id="{D51AA997-3A7F-D96C-FCAA-632A6F46E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0493" y="3862241"/>
            <a:ext cx="4075276" cy="2049554"/>
          </a:xfrm>
          <a:prstGeom prst="rect">
            <a:avLst/>
          </a:prstGeom>
        </p:spPr>
      </p:pic>
      <p:pic>
        <p:nvPicPr>
          <p:cNvPr id="9" name="Picture 8">
            <a:extLst>
              <a:ext uri="{FF2B5EF4-FFF2-40B4-BE49-F238E27FC236}">
                <a16:creationId xmlns:a16="http://schemas.microsoft.com/office/drawing/2014/main" id="{59AB3696-0BD6-B70B-34DC-93325FB6D6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0636" y="3814742"/>
            <a:ext cx="4217750" cy="2104796"/>
          </a:xfrm>
          <a:prstGeom prst="rect">
            <a:avLst/>
          </a:prstGeom>
        </p:spPr>
      </p:pic>
      <p:sp>
        <p:nvSpPr>
          <p:cNvPr id="10" name="TextBox 9">
            <a:extLst>
              <a:ext uri="{FF2B5EF4-FFF2-40B4-BE49-F238E27FC236}">
                <a16:creationId xmlns:a16="http://schemas.microsoft.com/office/drawing/2014/main" id="{3CCA1EC0-6B58-BB24-E886-0C1205271AC4}"/>
              </a:ext>
            </a:extLst>
          </p:cNvPr>
          <p:cNvSpPr txBox="1"/>
          <p:nvPr/>
        </p:nvSpPr>
        <p:spPr>
          <a:xfrm>
            <a:off x="2394446" y="5959825"/>
            <a:ext cx="1441420" cy="369332"/>
          </a:xfrm>
          <a:prstGeom prst="rect">
            <a:avLst/>
          </a:prstGeom>
          <a:noFill/>
        </p:spPr>
        <p:txBody>
          <a:bodyPr wrap="none" rtlCol="0">
            <a:spAutoFit/>
          </a:bodyPr>
          <a:lstStyle/>
          <a:p>
            <a:r>
              <a:rPr lang="en-US" dirty="0"/>
              <a:t>(a) : </a:t>
            </a:r>
            <a:r>
              <a:rPr lang="en-IN" dirty="0"/>
              <a:t>(50, 150)</a:t>
            </a:r>
          </a:p>
        </p:txBody>
      </p:sp>
      <p:sp>
        <p:nvSpPr>
          <p:cNvPr id="11" name="TextBox 10">
            <a:extLst>
              <a:ext uri="{FF2B5EF4-FFF2-40B4-BE49-F238E27FC236}">
                <a16:creationId xmlns:a16="http://schemas.microsoft.com/office/drawing/2014/main" id="{29A7DC05-5663-B2BC-E789-5405254CF920}"/>
              </a:ext>
            </a:extLst>
          </p:cNvPr>
          <p:cNvSpPr txBox="1"/>
          <p:nvPr/>
        </p:nvSpPr>
        <p:spPr>
          <a:xfrm>
            <a:off x="7727317" y="5934522"/>
            <a:ext cx="1569660" cy="369332"/>
          </a:xfrm>
          <a:prstGeom prst="rect">
            <a:avLst/>
          </a:prstGeom>
          <a:noFill/>
        </p:spPr>
        <p:txBody>
          <a:bodyPr wrap="none" rtlCol="0">
            <a:spAutoFit/>
          </a:bodyPr>
          <a:lstStyle/>
          <a:p>
            <a:r>
              <a:rPr lang="en-IN" dirty="0"/>
              <a:t>(b) : (100, 250)</a:t>
            </a:r>
          </a:p>
        </p:txBody>
      </p:sp>
      <p:sp>
        <p:nvSpPr>
          <p:cNvPr id="12" name="TextBox 11">
            <a:extLst>
              <a:ext uri="{FF2B5EF4-FFF2-40B4-BE49-F238E27FC236}">
                <a16:creationId xmlns:a16="http://schemas.microsoft.com/office/drawing/2014/main" id="{B04CCF1C-8187-36B1-EAD0-CE4B4B0C7033}"/>
              </a:ext>
            </a:extLst>
          </p:cNvPr>
          <p:cNvSpPr txBox="1"/>
          <p:nvPr/>
        </p:nvSpPr>
        <p:spPr>
          <a:xfrm>
            <a:off x="2836876" y="6303854"/>
            <a:ext cx="6628418" cy="369332"/>
          </a:xfrm>
          <a:prstGeom prst="rect">
            <a:avLst/>
          </a:prstGeom>
          <a:noFill/>
        </p:spPr>
        <p:txBody>
          <a:bodyPr wrap="none" rtlCol="0">
            <a:spAutoFit/>
          </a:bodyPr>
          <a:lstStyle/>
          <a:p>
            <a:r>
              <a:rPr lang="en-US" dirty="0"/>
              <a:t>Fig 8 : Effect of Canny threshold settings in a clean background scene.</a:t>
            </a:r>
            <a:endParaRPr lang="en-IN" dirty="0"/>
          </a:p>
        </p:txBody>
      </p:sp>
    </p:spTree>
    <p:extLst>
      <p:ext uri="{BB962C8B-B14F-4D97-AF65-F5344CB8AC3E}">
        <p14:creationId xmlns:p14="http://schemas.microsoft.com/office/powerpoint/2010/main" val="1648295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ABF92-7C3E-CC70-39C3-EFF5025D8885}"/>
              </a:ext>
            </a:extLst>
          </p:cNvPr>
          <p:cNvSpPr>
            <a:spLocks noGrp="1"/>
          </p:cNvSpPr>
          <p:nvPr>
            <p:ph type="title"/>
          </p:nvPr>
        </p:nvSpPr>
        <p:spPr/>
        <p:txBody>
          <a:bodyPr/>
          <a:lstStyle/>
          <a:p>
            <a:r>
              <a:rPr lang="en-IN" b="1" dirty="0">
                <a:solidFill>
                  <a:schemeClr val="accent1">
                    <a:lumMod val="50000"/>
                  </a:schemeClr>
                </a:solidFill>
              </a:rPr>
              <a:t>Limitations</a:t>
            </a:r>
          </a:p>
        </p:txBody>
      </p:sp>
      <p:sp>
        <p:nvSpPr>
          <p:cNvPr id="3" name="Content Placeholder 2">
            <a:extLst>
              <a:ext uri="{FF2B5EF4-FFF2-40B4-BE49-F238E27FC236}">
                <a16:creationId xmlns:a16="http://schemas.microsoft.com/office/drawing/2014/main" id="{80E8C22E-27A5-F978-FB33-667095A7F8FA}"/>
              </a:ext>
            </a:extLst>
          </p:cNvPr>
          <p:cNvSpPr>
            <a:spLocks noGrp="1"/>
          </p:cNvSpPr>
          <p:nvPr>
            <p:ph idx="1"/>
          </p:nvPr>
        </p:nvSpPr>
        <p:spPr>
          <a:xfrm>
            <a:off x="838200" y="1589651"/>
            <a:ext cx="10515600" cy="3237263"/>
          </a:xfrm>
        </p:spPr>
        <p:txBody>
          <a:bodyPr/>
          <a:lstStyle/>
          <a:p>
            <a:r>
              <a:rPr lang="en-US" dirty="0">
                <a:solidFill>
                  <a:schemeClr val="tx1">
                    <a:lumMod val="75000"/>
                    <a:lumOff val="25000"/>
                  </a:schemeClr>
                </a:solidFill>
              </a:rPr>
              <a:t>These methods are not object-aware, meaning they detect edges and corners everywhere in the image.</a:t>
            </a:r>
          </a:p>
          <a:p>
            <a:pPr marL="0" indent="0">
              <a:buNone/>
            </a:pPr>
            <a:endParaRPr lang="en-US" dirty="0">
              <a:solidFill>
                <a:schemeClr val="tx1">
                  <a:lumMod val="75000"/>
                  <a:lumOff val="25000"/>
                </a:schemeClr>
              </a:solidFill>
            </a:endParaRPr>
          </a:p>
          <a:p>
            <a:r>
              <a:rPr lang="en-US" dirty="0">
                <a:solidFill>
                  <a:schemeClr val="tx1">
                    <a:lumMod val="75000"/>
                    <a:lumOff val="25000"/>
                  </a:schemeClr>
                </a:solidFill>
              </a:rPr>
              <a:t>This leads to:</a:t>
            </a:r>
          </a:p>
          <a:p>
            <a:pPr lvl="1"/>
            <a:r>
              <a:rPr lang="en-US" dirty="0">
                <a:solidFill>
                  <a:schemeClr val="tx1">
                    <a:lumMod val="75000"/>
                    <a:lumOff val="25000"/>
                  </a:schemeClr>
                </a:solidFill>
              </a:rPr>
              <a:t>Detection of background objects </a:t>
            </a:r>
          </a:p>
          <a:p>
            <a:pPr lvl="1"/>
            <a:r>
              <a:rPr lang="en-US" dirty="0">
                <a:solidFill>
                  <a:schemeClr val="tx1">
                    <a:lumMod val="75000"/>
                    <a:lumOff val="25000"/>
                  </a:schemeClr>
                </a:solidFill>
              </a:rPr>
              <a:t>Extra corner points inside cards </a:t>
            </a:r>
          </a:p>
          <a:p>
            <a:pPr lvl="1"/>
            <a:r>
              <a:rPr lang="en-US" dirty="0">
                <a:solidFill>
                  <a:schemeClr val="tx1">
                    <a:lumMod val="75000"/>
                    <a:lumOff val="25000"/>
                  </a:schemeClr>
                </a:solidFill>
              </a:rPr>
              <a:t>Difficulty isolating only the playing cards </a:t>
            </a:r>
          </a:p>
          <a:p>
            <a:endParaRPr lang="en-IN" dirty="0"/>
          </a:p>
        </p:txBody>
      </p:sp>
    </p:spTree>
    <p:extLst>
      <p:ext uri="{BB962C8B-B14F-4D97-AF65-F5344CB8AC3E}">
        <p14:creationId xmlns:p14="http://schemas.microsoft.com/office/powerpoint/2010/main" val="303045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BBF4-401A-DDEF-9A74-32E3C7430B54}"/>
              </a:ext>
            </a:extLst>
          </p:cNvPr>
          <p:cNvSpPr>
            <a:spLocks noGrp="1"/>
          </p:cNvSpPr>
          <p:nvPr>
            <p:ph type="title"/>
          </p:nvPr>
        </p:nvSpPr>
        <p:spPr/>
        <p:txBody>
          <a:bodyPr/>
          <a:lstStyle/>
          <a:p>
            <a:r>
              <a:rPr lang="en-IN" b="1" dirty="0">
                <a:solidFill>
                  <a:schemeClr val="accent1">
                    <a:lumMod val="50000"/>
                  </a:schemeClr>
                </a:solidFill>
              </a:rPr>
              <a:t>Conclusion</a:t>
            </a:r>
          </a:p>
        </p:txBody>
      </p:sp>
      <p:sp>
        <p:nvSpPr>
          <p:cNvPr id="3" name="Content Placeholder 2">
            <a:extLst>
              <a:ext uri="{FF2B5EF4-FFF2-40B4-BE49-F238E27FC236}">
                <a16:creationId xmlns:a16="http://schemas.microsoft.com/office/drawing/2014/main" id="{3D752379-31D8-2D6C-1605-0EED74AD628D}"/>
              </a:ext>
            </a:extLst>
          </p:cNvPr>
          <p:cNvSpPr>
            <a:spLocks noGrp="1"/>
          </p:cNvSpPr>
          <p:nvPr>
            <p:ph idx="1"/>
          </p:nvPr>
        </p:nvSpPr>
        <p:spPr>
          <a:xfrm>
            <a:off x="720213" y="1488707"/>
            <a:ext cx="10515600" cy="4078656"/>
          </a:xfrm>
        </p:spPr>
        <p:txBody>
          <a:bodyPr/>
          <a:lstStyle/>
          <a:p>
            <a:r>
              <a:rPr lang="en-US" dirty="0">
                <a:solidFill>
                  <a:schemeClr val="tx1">
                    <a:lumMod val="75000"/>
                    <a:lumOff val="25000"/>
                  </a:schemeClr>
                </a:solidFill>
              </a:rPr>
              <a:t>Classical computer vision techniques such as Canny, Harris, and Shi-Tomasi are effective for detecting basic features like edges and corners in images. </a:t>
            </a:r>
          </a:p>
          <a:p>
            <a:endParaRPr lang="en-US" dirty="0">
              <a:solidFill>
                <a:schemeClr val="tx1">
                  <a:lumMod val="75000"/>
                  <a:lumOff val="25000"/>
                </a:schemeClr>
              </a:solidFill>
            </a:endParaRPr>
          </a:p>
          <a:p>
            <a:r>
              <a:rPr lang="en-US" dirty="0">
                <a:solidFill>
                  <a:schemeClr val="tx1">
                    <a:lumMod val="75000"/>
                    <a:lumOff val="25000"/>
                  </a:schemeClr>
                </a:solidFill>
              </a:rPr>
              <a:t>They perform well in simple environments but struggle to focus only on the playing cards in complex, cluttered scenes. </a:t>
            </a:r>
          </a:p>
          <a:p>
            <a:endParaRPr lang="en-US" dirty="0">
              <a:solidFill>
                <a:schemeClr val="tx1">
                  <a:lumMod val="75000"/>
                  <a:lumOff val="25000"/>
                </a:schemeClr>
              </a:solidFill>
            </a:endParaRPr>
          </a:p>
          <a:p>
            <a:r>
              <a:rPr lang="en-US" dirty="0">
                <a:solidFill>
                  <a:schemeClr val="tx1">
                    <a:lumMod val="75000"/>
                    <a:lumOff val="25000"/>
                  </a:schemeClr>
                </a:solidFill>
              </a:rPr>
              <a:t>Overall, these methods are fast and useful for feature extraction, but they are limited when precise object-level detection is required.</a:t>
            </a:r>
          </a:p>
          <a:p>
            <a:endParaRPr lang="en-IN" dirty="0"/>
          </a:p>
        </p:txBody>
      </p:sp>
    </p:spTree>
    <p:extLst>
      <p:ext uri="{BB962C8B-B14F-4D97-AF65-F5344CB8AC3E}">
        <p14:creationId xmlns:p14="http://schemas.microsoft.com/office/powerpoint/2010/main" val="1575878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182</TotalTime>
  <Words>670</Words>
  <Application>Microsoft Office PowerPoint</Application>
  <PresentationFormat>Widescreen</PresentationFormat>
  <Paragraphs>84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Detecting Playing Card Edges and Corners in Real-World Scenes Using Classical Computer Vision</vt:lpstr>
      <vt:lpstr>What is this Project About?</vt:lpstr>
      <vt:lpstr>Why is this Important?</vt:lpstr>
      <vt:lpstr>Dataset</vt:lpstr>
      <vt:lpstr>System Pipeline (How It Works)</vt:lpstr>
      <vt:lpstr>Methods Used</vt:lpstr>
      <vt:lpstr>Output Visualization</vt:lpstr>
      <vt:lpstr>Key Observations</vt:lpstr>
      <vt:lpstr>Effect of Parameter Tuning</vt:lpstr>
      <vt:lpstr>Limitations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Mounika Teppola</dc:creator>
  <cp:lastModifiedBy>Bala Swapnika Gopi</cp:lastModifiedBy>
  <cp:revision>2</cp:revision>
  <dcterms:created xsi:type="dcterms:W3CDTF">2026-03-30T15:53:46Z</dcterms:created>
  <dcterms:modified xsi:type="dcterms:W3CDTF">2026-03-31T01:24:42Z</dcterms:modified>
</cp:coreProperties>
</file>